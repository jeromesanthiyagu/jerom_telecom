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My project is an AI assistant for telecom network operations. An engineer describes a network problem in plain words; the assistant finds similar historical cases in 100,000 records, classifies the case, predicts fault risk, ranks likely causes and suggests what to check — and every statement it makes is traceable to evidence. [about 20 seconds]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problem. NOC engineers face constant KPI degradations and alarms and must decide quickly what is wrong and what to do. Past incidents hold the answer but are hard to search. And a general chatbot is dangerous here, because it invents numbers and causes. So the question was: how do we help engineers decide faster without ever presenting a guess as a fact? [45 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the business needs: shorter time to a first diagnosis, consistent decisions across engineers, reuse of historical knowledge, and above all trust — every claim auditable. It must also be safe: it supports decisions, it never acts on the network, and it never promises KPI improvements. [45 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solution: one plain-language question in, and out comes similar historical cases; a derived category, severity and priority; a fault-risk prediction shown next to the rate actually observed in similar cases; ranked root-cause hypotheses; and concrete checks and actions. The principle: facts from data and rules, estimates from ML with measured error, and the LLM only explains — code checks every number it writes. [50 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architecture follows the required chain. At build time: the pinned dataset is validated and cleaned, conditions and labels are derived by rules, each record becomes one chunk, chunks are embedded with MiniLM into ChromaDB and also indexed by BM25. At query time: the Streamlit UI calls FastAPI, guardrails check the input, the retriever combines semantic, keyword and metric similarity, six agents build the answer, and the LLM writes the explanation behind a grounding gate. [60 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a real record's journey. Record 33707 starts as a raw CSV line, becomes typed data, gets two derived conditions and the labels Service Degradation, HIGH, P3, becomes a text chunk, and is stored both as a vector in ChromaDB and as a weighted row in BM25. For the question 'high latency and packet loss during snow', each search alone makes mistakes; the hybrid ranking returns five records that all show both conditions in snow. [60 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stack is deliberately small and local. Python throughout. The LLM is gpt-oss-20b from NVIDIA's API catalog with JSON-schema outputs. MiniLM embeddings in ChromaDB, plus my own BM25 implementation. scikit-learn gradient boosting for risk. FastAPI for the API, Streamlit for the UI, and pytest plus DeepEval for evaluation. [40 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analysis runs as six agents in a fixed order: retrieval, classification, risk, diagnosis, recommendation and validation. They share one typed state, each declares the inputs it needs and writes a timed trace entry. There are no autonomous loops — a linear workflow is easier to test, and a test proves the agents give exactly the same result as the plain pipeline. [45 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[Switch to the live app: streamlit run frontend.py, with the API running.] I choose the example 'Faults rising, handover falling' and press Analyze case. Point out: the category is Mobility and Handover; severity is marked estimated because I only described the problem; the ML prediction of 44 percent is shown next to the 58 percent actually observed in similar records; the leading hypothesis scores 0.65, a documented heuristic; and every action says which condition it is based on. If the live demo fails, this screenshot is the real output. [90 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Quality was measured. All automated tests pass, including the five proofs the specification asked for, such as comparing every processed value with the raw file. On the eight evaluation cases, retrieval precision, category, hypothesis and grounding are all at the top. DeepEval, using the NVIDIA model as an independent judge, gives the faithfulness shown. The served fault-risk model explains 88 percent of the variation on unseen data. Two honest caveats: these are development scores, and the classifier figure is agreement with my own rules. [60 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most valuable part was what testing found. The data has no labels, so labels are derived and always called derived. A near-perfect R-squared turned out to be leakage. The LLM computed numbers that were not in the evidence, so code now checks every number. Embeddings confused 'normal load' with high load. Even pandas changed values in the last decimal place. The lesson: test the data and check the AI. Limits: the data is synthetic, so causes stay hypotheses. [60 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close: evidence first, honest machine learning, and a safely constrained LLM. Thank you — I'm happy to take questions or show any part live.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822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6858000"/>
          </a:xfrm>
          <a:prstGeom prst="rect">
            <a:avLst/>
          </a:prstGeom>
          <a:solidFill>
            <a:srgbClr val="1F6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280160"/>
            <a:ext cx="10515600" cy="365760"/>
          </a:xfrm>
          <a:prstGeom prst="rect">
            <a:avLst/>
          </a:prstGeom>
          <a:noFill/>
        </p:spPr>
        <p:txBody>
          <a:bodyPr wrap="square" anchor="t" lIns="0" rIns="0" tIns="0" bIns="0">
            <a:spAutoFit/>
          </a:bodyPr>
          <a:lstStyle/>
          <a:p>
            <a:pPr algn="l">
              <a:lnSpc>
                <a:spcPct val="112000"/>
              </a:lnSpc>
              <a:spcAft>
                <a:spcPts val="600"/>
              </a:spcAft>
            </a:pPr>
            <a:r>
              <a:rPr sz="1400" b="1">
                <a:solidFill>
                  <a:srgbClr val="A9B6C6"/>
                </a:solidFill>
                <a:latin typeface="Calibri"/>
              </a:rPr>
              <a:t>CAPSTONE PROJECT · TELECOM</a:t>
            </a:r>
          </a:p>
        </p:txBody>
      </p:sp>
      <p:sp>
        <p:nvSpPr>
          <p:cNvPr id="5" name="TextBox 4"/>
          <p:cNvSpPr txBox="1"/>
          <p:nvPr/>
        </p:nvSpPr>
        <p:spPr>
          <a:xfrm>
            <a:off x="822960" y="1783080"/>
            <a:ext cx="10515600" cy="1828800"/>
          </a:xfrm>
          <a:prstGeom prst="rect">
            <a:avLst/>
          </a:prstGeom>
          <a:noFill/>
        </p:spPr>
        <p:txBody>
          <a:bodyPr wrap="square" anchor="t" lIns="0" rIns="0" tIns="0" bIns="0">
            <a:spAutoFit/>
          </a:bodyPr>
          <a:lstStyle/>
          <a:p>
            <a:pPr algn="l">
              <a:lnSpc>
                <a:spcPct val="95000"/>
              </a:lnSpc>
              <a:spcAft>
                <a:spcPts val="600"/>
              </a:spcAft>
            </a:pPr>
            <a:r>
              <a:rPr sz="4600" b="1">
                <a:solidFill>
                  <a:srgbClr val="F6F5F1"/>
                </a:solidFill>
                <a:latin typeface="Calibri"/>
              </a:rPr>
              <a:t>AI-Powered Telecom Network
Operations Assistant</a:t>
            </a:r>
          </a:p>
        </p:txBody>
      </p:sp>
      <p:sp>
        <p:nvSpPr>
          <p:cNvPr id="6" name="TextBox 5"/>
          <p:cNvSpPr txBox="1"/>
          <p:nvPr/>
        </p:nvSpPr>
        <p:spPr>
          <a:xfrm>
            <a:off x="822960" y="3749039"/>
            <a:ext cx="10058400" cy="914400"/>
          </a:xfrm>
          <a:prstGeom prst="rect">
            <a:avLst/>
          </a:prstGeom>
          <a:noFill/>
        </p:spPr>
        <p:txBody>
          <a:bodyPr wrap="square" anchor="t" lIns="0" rIns="0" tIns="0" bIns="0">
            <a:spAutoFit/>
          </a:bodyPr>
          <a:lstStyle/>
          <a:p>
            <a:pPr algn="l">
              <a:lnSpc>
                <a:spcPct val="112000"/>
              </a:lnSpc>
              <a:spcAft>
                <a:spcPts val="600"/>
              </a:spcAft>
            </a:pPr>
            <a:r>
              <a:rPr sz="2000" b="0">
                <a:solidFill>
                  <a:srgbClr val="A9B6C6"/>
                </a:solidFill>
                <a:latin typeface="Calibri"/>
              </a:rPr>
              <a:t>Evidence-grounded RAG with agents: similar past cases, risk, ranked root-cause hypotheses and next steps — nothing invented.</a:t>
            </a:r>
          </a:p>
        </p:txBody>
      </p:sp>
      <p:sp>
        <p:nvSpPr>
          <p:cNvPr id="7" name="TextBox 6"/>
          <p:cNvSpPr txBox="1"/>
          <p:nvPr/>
        </p:nvSpPr>
        <p:spPr>
          <a:xfrm>
            <a:off x="822960" y="5669280"/>
            <a:ext cx="10058400" cy="365760"/>
          </a:xfrm>
          <a:prstGeom prst="rect">
            <a:avLst/>
          </a:prstGeom>
          <a:noFill/>
        </p:spPr>
        <p:txBody>
          <a:bodyPr wrap="square" anchor="t" lIns="0" rIns="0" tIns="0" bIns="0">
            <a:spAutoFit/>
          </a:bodyPr>
          <a:lstStyle/>
          <a:p>
            <a:pPr algn="l">
              <a:lnSpc>
                <a:spcPct val="112000"/>
              </a:lnSpc>
              <a:spcAft>
                <a:spcPts val="600"/>
              </a:spcAft>
            </a:pPr>
            <a:r>
              <a:rPr sz="1400" b="0">
                <a:solidFill>
                  <a:srgbClr val="A9B6C6"/>
                </a:solidFill>
                <a:latin typeface="Calibri"/>
              </a:rPr>
              <a:t>[Your name] · Repository Jerom_Telecom · [Date]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5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972800" cy="320040"/>
          </a:xfrm>
          <a:prstGeom prst="rect">
            <a:avLst/>
          </a:prstGeom>
          <a:noFill/>
        </p:spPr>
        <p:txBody>
          <a:bodyPr wrap="square" anchor="t" lIns="0" rIns="0" tIns="0" bIns="0">
            <a:spAutoFit/>
          </a:bodyPr>
          <a:lstStyle/>
          <a:p>
            <a:pPr algn="l">
              <a:lnSpc>
                <a:spcPct val="112000"/>
              </a:lnSpc>
              <a:spcAft>
                <a:spcPts val="600"/>
              </a:spcAft>
            </a:pPr>
            <a:r>
              <a:rPr sz="1200" b="1">
                <a:solidFill>
                  <a:srgbClr val="1F63B8"/>
                </a:solidFill>
                <a:latin typeface="Calibri"/>
              </a:rPr>
              <a:t>PROBLEM STATEMENT</a:t>
            </a:r>
          </a:p>
        </p:txBody>
      </p:sp>
      <p:sp>
        <p:nvSpPr>
          <p:cNvPr id="4" name="TextBox 3"/>
          <p:cNvSpPr txBox="1"/>
          <p:nvPr/>
        </p:nvSpPr>
        <p:spPr>
          <a:xfrm>
            <a:off x="548640" y="713232"/>
            <a:ext cx="11064240" cy="822960"/>
          </a:xfrm>
          <a:prstGeom prst="rect">
            <a:avLst/>
          </a:prstGeom>
          <a:noFill/>
        </p:spPr>
        <p:txBody>
          <a:bodyPr wrap="square" anchor="t" lIns="0" rIns="0" tIns="0" bIns="0">
            <a:spAutoFit/>
          </a:bodyPr>
          <a:lstStyle/>
          <a:p>
            <a:pPr algn="l">
              <a:lnSpc>
                <a:spcPct val="100000"/>
              </a:lnSpc>
              <a:spcAft>
                <a:spcPts val="600"/>
              </a:spcAft>
            </a:pPr>
            <a:r>
              <a:rPr sz="3000" b="1">
                <a:solidFill>
                  <a:srgbClr val="18222F"/>
                </a:solidFill>
                <a:latin typeface="Calibri"/>
              </a:rPr>
              <a:t>Engineers diagnose network degradations under time pressure</a:t>
            </a:r>
          </a:p>
        </p:txBody>
      </p:sp>
      <p:sp>
        <p:nvSpPr>
          <p:cNvPr id="5" name="TextBox 4"/>
          <p:cNvSpPr txBox="1"/>
          <p:nvPr/>
        </p:nvSpPr>
        <p:spPr>
          <a:xfrm>
            <a:off x="548640" y="6400800"/>
            <a:ext cx="8229600" cy="274320"/>
          </a:xfrm>
          <a:prstGeom prst="rect">
            <a:avLst/>
          </a:prstGeom>
          <a:noFill/>
        </p:spPr>
        <p:txBody>
          <a:bodyPr wrap="square" anchor="t" lIns="0" rIns="0" tIns="0" bIns="0">
            <a:spAutoFit/>
          </a:bodyPr>
          <a:lstStyle/>
          <a:p>
            <a:pPr algn="l">
              <a:lnSpc>
                <a:spcPct val="112000"/>
              </a:lnSpc>
              <a:spcAft>
                <a:spcPts val="600"/>
              </a:spcAft>
            </a:pPr>
            <a:r>
              <a:rPr sz="1000" b="0">
                <a:solidFill>
                  <a:srgbClr val="5F6B7A"/>
                </a:solidFill>
                <a:latin typeface="Calibri"/>
              </a:rPr>
              <a:t>Telecom NetOps Assistant · 2 / 12</a:t>
            </a:r>
          </a:p>
        </p:txBody>
      </p:sp>
      <p:sp>
        <p:nvSpPr>
          <p:cNvPr id="6" name="Rounded Rectangle 5"/>
          <p:cNvSpPr/>
          <p:nvPr/>
        </p:nvSpPr>
        <p:spPr>
          <a:xfrm>
            <a:off x="548640" y="1828800"/>
            <a:ext cx="3520440" cy="2468880"/>
          </a:xfrm>
          <a:prstGeom prst="roundRect">
            <a:avLst>
              <a:gd name="adj" fmla="val 6000"/>
            </a:avLst>
          </a:prstGeom>
          <a:solidFill>
            <a:srgbClr val="FFFFFF"/>
          </a:solidFill>
          <a:ln w="9525">
            <a:solidFill>
              <a:srgbClr val="DDDB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13232" y="1828800"/>
            <a:ext cx="3191256" cy="54864"/>
          </a:xfrm>
          <a:prstGeom prst="rect">
            <a:avLst/>
          </a:prstGeom>
          <a:solidFill>
            <a:srgbClr val="1F6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011680"/>
            <a:ext cx="3118104" cy="411480"/>
          </a:xfrm>
          <a:prstGeom prst="rect">
            <a:avLst/>
          </a:prstGeom>
          <a:noFill/>
        </p:spPr>
        <p:txBody>
          <a:bodyPr wrap="square" anchor="t" lIns="0" rIns="0" tIns="0" bIns="0">
            <a:spAutoFit/>
          </a:bodyPr>
          <a:lstStyle/>
          <a:p>
            <a:pPr algn="l">
              <a:lnSpc>
                <a:spcPct val="112000"/>
              </a:lnSpc>
              <a:spcAft>
                <a:spcPts val="600"/>
              </a:spcAft>
            </a:pPr>
            <a:r>
              <a:rPr sz="1700" b="1">
                <a:solidFill>
                  <a:srgbClr val="18222F"/>
                </a:solidFill>
                <a:latin typeface="Calibri"/>
              </a:rPr>
              <a:t>Too many signals</a:t>
            </a:r>
          </a:p>
        </p:txBody>
      </p:sp>
      <p:sp>
        <p:nvSpPr>
          <p:cNvPr id="9" name="TextBox 8"/>
          <p:cNvSpPr txBox="1"/>
          <p:nvPr/>
        </p:nvSpPr>
        <p:spPr>
          <a:xfrm>
            <a:off x="749808" y="2450592"/>
            <a:ext cx="3118104" cy="1737360"/>
          </a:xfrm>
          <a:prstGeom prst="rect">
            <a:avLst/>
          </a:prstGeom>
          <a:noFill/>
        </p:spPr>
        <p:txBody>
          <a:bodyPr wrap="square" anchor="t" lIns="0" rIns="0" tIns="0" bIns="0">
            <a:spAutoFit/>
          </a:bodyPr>
          <a:lstStyle/>
          <a:p>
            <a:pPr algn="l">
              <a:lnSpc>
                <a:spcPct val="115000"/>
              </a:lnSpc>
              <a:spcAft>
                <a:spcPts val="600"/>
              </a:spcAft>
            </a:pPr>
            <a:r>
              <a:rPr sz="1300" b="0">
                <a:solidFill>
                  <a:srgbClr val="3C4757"/>
                </a:solidFill>
                <a:latin typeface="Calibri"/>
              </a:rPr>
              <a:t>KPIs such as latency, packet loss, handover success and alarms change constantly; each degradation needs a quick, correct decision.</a:t>
            </a:r>
          </a:p>
        </p:txBody>
      </p:sp>
      <p:sp>
        <p:nvSpPr>
          <p:cNvPr id="10" name="Rounded Rectangle 9"/>
          <p:cNvSpPr/>
          <p:nvPr/>
        </p:nvSpPr>
        <p:spPr>
          <a:xfrm>
            <a:off x="4297679" y="1828800"/>
            <a:ext cx="3520440" cy="2468880"/>
          </a:xfrm>
          <a:prstGeom prst="roundRect">
            <a:avLst>
              <a:gd name="adj" fmla="val 6000"/>
            </a:avLst>
          </a:prstGeom>
          <a:solidFill>
            <a:srgbClr val="FFFFFF"/>
          </a:solidFill>
          <a:ln w="9525">
            <a:solidFill>
              <a:srgbClr val="DDDB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462271" y="1828800"/>
            <a:ext cx="3191256" cy="54864"/>
          </a:xfrm>
          <a:prstGeom prst="rect">
            <a:avLst/>
          </a:prstGeom>
          <a:solidFill>
            <a:srgbClr val="1F6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498847" y="2011680"/>
            <a:ext cx="3118104" cy="411480"/>
          </a:xfrm>
          <a:prstGeom prst="rect">
            <a:avLst/>
          </a:prstGeom>
          <a:noFill/>
        </p:spPr>
        <p:txBody>
          <a:bodyPr wrap="square" anchor="t" lIns="0" rIns="0" tIns="0" bIns="0">
            <a:spAutoFit/>
          </a:bodyPr>
          <a:lstStyle/>
          <a:p>
            <a:pPr algn="l">
              <a:lnSpc>
                <a:spcPct val="112000"/>
              </a:lnSpc>
              <a:spcAft>
                <a:spcPts val="600"/>
              </a:spcAft>
            </a:pPr>
            <a:r>
              <a:rPr sz="1700" b="1">
                <a:solidFill>
                  <a:srgbClr val="18222F"/>
                </a:solidFill>
                <a:latin typeface="Calibri"/>
              </a:rPr>
              <a:t>Past cases are hard to use</a:t>
            </a:r>
          </a:p>
        </p:txBody>
      </p:sp>
      <p:sp>
        <p:nvSpPr>
          <p:cNvPr id="13" name="TextBox 12"/>
          <p:cNvSpPr txBox="1"/>
          <p:nvPr/>
        </p:nvSpPr>
        <p:spPr>
          <a:xfrm>
            <a:off x="4498847" y="2450592"/>
            <a:ext cx="3118104" cy="1737360"/>
          </a:xfrm>
          <a:prstGeom prst="rect">
            <a:avLst/>
          </a:prstGeom>
          <a:noFill/>
        </p:spPr>
        <p:txBody>
          <a:bodyPr wrap="square" anchor="t" lIns="0" rIns="0" tIns="0" bIns="0">
            <a:spAutoFit/>
          </a:bodyPr>
          <a:lstStyle/>
          <a:p>
            <a:pPr algn="l">
              <a:lnSpc>
                <a:spcPct val="115000"/>
              </a:lnSpc>
              <a:spcAft>
                <a:spcPts val="600"/>
              </a:spcAft>
            </a:pPr>
            <a:r>
              <a:rPr sz="1300" b="0">
                <a:solidFill>
                  <a:srgbClr val="3C4757"/>
                </a:solidFill>
                <a:latin typeface="Calibri"/>
              </a:rPr>
              <a:t>Similar incidents happened before, but finding them and their pattern takes manual search and experience.</a:t>
            </a:r>
          </a:p>
        </p:txBody>
      </p:sp>
      <p:sp>
        <p:nvSpPr>
          <p:cNvPr id="14" name="Rounded Rectangle 13"/>
          <p:cNvSpPr/>
          <p:nvPr/>
        </p:nvSpPr>
        <p:spPr>
          <a:xfrm>
            <a:off x="8046719" y="1828800"/>
            <a:ext cx="3520440" cy="2468880"/>
          </a:xfrm>
          <a:prstGeom prst="roundRect">
            <a:avLst>
              <a:gd name="adj" fmla="val 6000"/>
            </a:avLst>
          </a:prstGeom>
          <a:solidFill>
            <a:srgbClr val="FFFFFF"/>
          </a:solidFill>
          <a:ln w="9525">
            <a:solidFill>
              <a:srgbClr val="DDDB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211311" y="1828800"/>
            <a:ext cx="3191256" cy="54864"/>
          </a:xfrm>
          <a:prstGeom prst="rect">
            <a:avLst/>
          </a:prstGeom>
          <a:solidFill>
            <a:srgbClr val="1F6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47888" y="2011680"/>
            <a:ext cx="3118104" cy="411480"/>
          </a:xfrm>
          <a:prstGeom prst="rect">
            <a:avLst/>
          </a:prstGeom>
          <a:noFill/>
        </p:spPr>
        <p:txBody>
          <a:bodyPr wrap="square" anchor="t" lIns="0" rIns="0" tIns="0" bIns="0">
            <a:spAutoFit/>
          </a:bodyPr>
          <a:lstStyle/>
          <a:p>
            <a:pPr algn="l">
              <a:lnSpc>
                <a:spcPct val="112000"/>
              </a:lnSpc>
              <a:spcAft>
                <a:spcPts val="600"/>
              </a:spcAft>
            </a:pPr>
            <a:r>
              <a:rPr sz="1700" b="1">
                <a:solidFill>
                  <a:srgbClr val="18222F"/>
                </a:solidFill>
                <a:latin typeface="Calibri"/>
              </a:rPr>
              <a:t>Generic AI is unsafe here</a:t>
            </a:r>
          </a:p>
        </p:txBody>
      </p:sp>
      <p:sp>
        <p:nvSpPr>
          <p:cNvPr id="17" name="TextBox 16"/>
          <p:cNvSpPr txBox="1"/>
          <p:nvPr/>
        </p:nvSpPr>
        <p:spPr>
          <a:xfrm>
            <a:off x="8247888" y="2450592"/>
            <a:ext cx="3118104" cy="1737360"/>
          </a:xfrm>
          <a:prstGeom prst="rect">
            <a:avLst/>
          </a:prstGeom>
          <a:noFill/>
        </p:spPr>
        <p:txBody>
          <a:bodyPr wrap="square" anchor="t" lIns="0" rIns="0" tIns="0" bIns="0">
            <a:spAutoFit/>
          </a:bodyPr>
          <a:lstStyle/>
          <a:p>
            <a:pPr algn="l">
              <a:lnSpc>
                <a:spcPct val="115000"/>
              </a:lnSpc>
              <a:spcAft>
                <a:spcPts val="600"/>
              </a:spcAft>
            </a:pPr>
            <a:r>
              <a:rPr sz="1300" b="0">
                <a:solidFill>
                  <a:srgbClr val="3C4757"/>
                </a:solidFill>
                <a:latin typeface="Calibri"/>
              </a:rPr>
              <a:t>Chatbots invent measurements, incident IDs and confident root causes — a wrong 'fact' costs outage time.</a:t>
            </a:r>
          </a:p>
        </p:txBody>
      </p:sp>
      <p:sp>
        <p:nvSpPr>
          <p:cNvPr id="18" name="TextBox 17"/>
          <p:cNvSpPr txBox="1"/>
          <p:nvPr/>
        </p:nvSpPr>
        <p:spPr>
          <a:xfrm>
            <a:off x="548640" y="4754880"/>
            <a:ext cx="10972800" cy="1097280"/>
          </a:xfrm>
          <a:prstGeom prst="rect">
            <a:avLst/>
          </a:prstGeom>
          <a:noFill/>
        </p:spPr>
        <p:txBody>
          <a:bodyPr wrap="square" anchor="t" lIns="0" rIns="0" tIns="0" bIns="0">
            <a:spAutoFit/>
          </a:bodyPr>
          <a:lstStyle/>
          <a:p>
            <a:pPr algn="l">
              <a:lnSpc>
                <a:spcPct val="112000"/>
              </a:lnSpc>
              <a:spcAft>
                <a:spcPts val="600"/>
              </a:spcAft>
            </a:pPr>
            <a:r>
              <a:rPr sz="2000" b="1">
                <a:solidFill>
                  <a:srgbClr val="18222F"/>
                </a:solidFill>
                <a:latin typeface="Calibri"/>
              </a:rPr>
              <a:t>Question: how can an assistant help an engineer decide faster while never presenting a guess as a fact?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5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972800" cy="320040"/>
          </a:xfrm>
          <a:prstGeom prst="rect">
            <a:avLst/>
          </a:prstGeom>
          <a:noFill/>
        </p:spPr>
        <p:txBody>
          <a:bodyPr wrap="square" anchor="t" lIns="0" rIns="0" tIns="0" bIns="0">
            <a:spAutoFit/>
          </a:bodyPr>
          <a:lstStyle/>
          <a:p>
            <a:pPr algn="l">
              <a:lnSpc>
                <a:spcPct val="112000"/>
              </a:lnSpc>
              <a:spcAft>
                <a:spcPts val="600"/>
              </a:spcAft>
            </a:pPr>
            <a:r>
              <a:rPr sz="1200" b="1">
                <a:solidFill>
                  <a:srgbClr val="1F63B8"/>
                </a:solidFill>
                <a:latin typeface="Calibri"/>
              </a:rPr>
              <a:t>BUSINESS NEED</a:t>
            </a:r>
          </a:p>
        </p:txBody>
      </p:sp>
      <p:sp>
        <p:nvSpPr>
          <p:cNvPr id="4" name="TextBox 3"/>
          <p:cNvSpPr txBox="1"/>
          <p:nvPr/>
        </p:nvSpPr>
        <p:spPr>
          <a:xfrm>
            <a:off x="548640" y="713232"/>
            <a:ext cx="11064240" cy="822960"/>
          </a:xfrm>
          <a:prstGeom prst="rect">
            <a:avLst/>
          </a:prstGeom>
          <a:noFill/>
        </p:spPr>
        <p:txBody>
          <a:bodyPr wrap="square" anchor="t" lIns="0" rIns="0" tIns="0" bIns="0">
            <a:spAutoFit/>
          </a:bodyPr>
          <a:lstStyle/>
          <a:p>
            <a:pPr algn="l">
              <a:lnSpc>
                <a:spcPct val="100000"/>
              </a:lnSpc>
              <a:spcAft>
                <a:spcPts val="600"/>
              </a:spcAft>
            </a:pPr>
            <a:r>
              <a:rPr sz="3000" b="1">
                <a:solidFill>
                  <a:srgbClr val="18222F"/>
                </a:solidFill>
                <a:latin typeface="Calibri"/>
              </a:rPr>
              <a:t>Faster, consistent and trustworthy triage</a:t>
            </a:r>
          </a:p>
        </p:txBody>
      </p:sp>
      <p:sp>
        <p:nvSpPr>
          <p:cNvPr id="5" name="TextBox 4"/>
          <p:cNvSpPr txBox="1"/>
          <p:nvPr/>
        </p:nvSpPr>
        <p:spPr>
          <a:xfrm>
            <a:off x="548640" y="6400800"/>
            <a:ext cx="8229600" cy="274320"/>
          </a:xfrm>
          <a:prstGeom prst="rect">
            <a:avLst/>
          </a:prstGeom>
          <a:noFill/>
        </p:spPr>
        <p:txBody>
          <a:bodyPr wrap="square" anchor="t" lIns="0" rIns="0" tIns="0" bIns="0">
            <a:spAutoFit/>
          </a:bodyPr>
          <a:lstStyle/>
          <a:p>
            <a:pPr algn="l">
              <a:lnSpc>
                <a:spcPct val="112000"/>
              </a:lnSpc>
              <a:spcAft>
                <a:spcPts val="600"/>
              </a:spcAft>
            </a:pPr>
            <a:r>
              <a:rPr sz="1000" b="0">
                <a:solidFill>
                  <a:srgbClr val="5F6B7A"/>
                </a:solidFill>
                <a:latin typeface="Calibri"/>
              </a:rPr>
              <a:t>Telecom NetOps Assistant · 3 / 12</a:t>
            </a:r>
          </a:p>
        </p:txBody>
      </p:sp>
      <p:graphicFrame>
        <p:nvGraphicFramePr>
          <p:cNvPr id="6" name="Table 5"/>
          <p:cNvGraphicFramePr>
            <a:graphicFrameLocks noGrp="1"/>
          </p:cNvGraphicFramePr>
          <p:nvPr/>
        </p:nvGraphicFramePr>
        <p:xfrm>
          <a:off x="548640" y="1828800"/>
          <a:ext cx="11064240" cy="3401568"/>
        </p:xfrm>
        <a:graphic>
          <a:graphicData uri="http://schemas.openxmlformats.org/drawingml/2006/table">
            <a:tbl>
              <a:tblPr firstRow="1" bandRow="1">
                <a:tableStyleId>{5C22544A-7EE6-4342-B048-85BDC9FD1C3A}</a:tableStyleId>
              </a:tblPr>
              <a:tblGrid>
                <a:gridCol w="3840480"/>
                <a:gridCol w="7223760"/>
              </a:tblGrid>
              <a:tr h="566928">
                <a:tc>
                  <a:txBody>
                    <a:bodyPr wrap="square"/>
                    <a:lstStyle/>
                    <a:p>
                      <a:r>
                        <a:rPr sz="1500" b="1">
                          <a:solidFill>
                            <a:srgbClr val="F6F5F1"/>
                          </a:solidFill>
                          <a:latin typeface="Calibri"/>
                        </a:rPr>
                        <a:t>Need</a:t>
                      </a:r>
                    </a:p>
                  </a:txBody>
                  <a:tcPr marL="73152" marR="73152" marT="36576" marB="36576">
                    <a:solidFill>
                      <a:srgbClr val="18222F"/>
                    </a:solidFill>
                  </a:tcPr>
                </a:tc>
                <a:tc>
                  <a:txBody>
                    <a:bodyPr wrap="square"/>
                    <a:lstStyle/>
                    <a:p>
                      <a:r>
                        <a:rPr sz="1500" b="1">
                          <a:solidFill>
                            <a:srgbClr val="F6F5F1"/>
                          </a:solidFill>
                          <a:latin typeface="Calibri"/>
                        </a:rPr>
                        <a:t>What the solution provides</a:t>
                      </a:r>
                    </a:p>
                  </a:txBody>
                  <a:tcPr marL="73152" marR="73152" marT="36576" marB="36576">
                    <a:solidFill>
                      <a:srgbClr val="18222F"/>
                    </a:solidFill>
                  </a:tcPr>
                </a:tc>
              </a:tr>
              <a:tr h="566928">
                <a:tc>
                  <a:txBody>
                    <a:bodyPr wrap="square"/>
                    <a:lstStyle/>
                    <a:p>
                      <a:r>
                        <a:rPr sz="1500" b="1">
                          <a:solidFill>
                            <a:srgbClr val="18222F"/>
                          </a:solidFill>
                          <a:latin typeface="Calibri"/>
                        </a:rPr>
                        <a:t>Shorter time to a first diagnosis</a:t>
                      </a:r>
                    </a:p>
                  </a:txBody>
                  <a:tcPr marL="73152" marR="73152" marT="36576" marB="36576">
                    <a:solidFill>
                      <a:srgbClr val="FFFFFF"/>
                    </a:solidFill>
                  </a:tcPr>
                </a:tc>
                <a:tc>
                  <a:txBody>
                    <a:bodyPr wrap="square"/>
                    <a:lstStyle/>
                    <a:p>
                      <a:r>
                        <a:rPr sz="1500" b="0">
                          <a:solidFill>
                            <a:srgbClr val="18222F"/>
                          </a:solidFill>
                          <a:latin typeface="Calibri"/>
                        </a:rPr>
                        <a:t>similar cases, category, severity and priority in seconds</a:t>
                      </a:r>
                    </a:p>
                  </a:txBody>
                  <a:tcPr marL="73152" marR="73152" marT="36576" marB="36576">
                    <a:solidFill>
                      <a:srgbClr val="FFFFFF"/>
                    </a:solidFill>
                  </a:tcPr>
                </a:tc>
              </a:tr>
              <a:tr h="566928">
                <a:tc>
                  <a:txBody>
                    <a:bodyPr wrap="square"/>
                    <a:lstStyle/>
                    <a:p>
                      <a:r>
                        <a:rPr sz="1500" b="1">
                          <a:solidFill>
                            <a:srgbClr val="18222F"/>
                          </a:solidFill>
                          <a:latin typeface="Calibri"/>
                        </a:rPr>
                        <a:t>Consistent decisions</a:t>
                      </a:r>
                    </a:p>
                  </a:txBody>
                  <a:tcPr marL="73152" marR="73152" marT="36576" marB="36576">
                    <a:solidFill>
                      <a:srgbClr val="F1F0EC"/>
                    </a:solidFill>
                  </a:tcPr>
                </a:tc>
                <a:tc>
                  <a:txBody>
                    <a:bodyPr wrap="square"/>
                    <a:lstStyle/>
                    <a:p>
                      <a:r>
                        <a:rPr sz="1500" b="0">
                          <a:solidFill>
                            <a:srgbClr val="18222F"/>
                          </a:solidFill>
                          <a:latin typeface="Calibri"/>
                        </a:rPr>
                        <a:t>the same documented rules for every case (YAML), not individual judgement</a:t>
                      </a:r>
                    </a:p>
                  </a:txBody>
                  <a:tcPr marL="73152" marR="73152" marT="36576" marB="36576">
                    <a:solidFill>
                      <a:srgbClr val="F1F0EC"/>
                    </a:solidFill>
                  </a:tcPr>
                </a:tc>
              </a:tr>
              <a:tr h="566928">
                <a:tc>
                  <a:txBody>
                    <a:bodyPr wrap="square"/>
                    <a:lstStyle/>
                    <a:p>
                      <a:r>
                        <a:rPr sz="1500" b="1">
                          <a:solidFill>
                            <a:srgbClr val="18222F"/>
                          </a:solidFill>
                          <a:latin typeface="Calibri"/>
                        </a:rPr>
                        <a:t>Reuse of historical knowledge</a:t>
                      </a:r>
                    </a:p>
                  </a:txBody>
                  <a:tcPr marL="73152" marR="73152" marT="36576" marB="36576">
                    <a:solidFill>
                      <a:srgbClr val="FFFFFF"/>
                    </a:solidFill>
                  </a:tcPr>
                </a:tc>
                <a:tc>
                  <a:txBody>
                    <a:bodyPr wrap="square"/>
                    <a:lstStyle/>
                    <a:p>
                      <a:r>
                        <a:rPr sz="1500" b="0">
                          <a:solidFill>
                            <a:srgbClr val="18222F"/>
                          </a:solidFill>
                          <a:latin typeface="Calibri"/>
                        </a:rPr>
                        <a:t>hybrid search over 100,000 past records as evidence</a:t>
                      </a:r>
                    </a:p>
                  </a:txBody>
                  <a:tcPr marL="73152" marR="73152" marT="36576" marB="36576">
                    <a:solidFill>
                      <a:srgbClr val="FFFFFF"/>
                    </a:solidFill>
                  </a:tcPr>
                </a:tc>
              </a:tr>
              <a:tr h="566928">
                <a:tc>
                  <a:txBody>
                    <a:bodyPr wrap="square"/>
                    <a:lstStyle/>
                    <a:p>
                      <a:r>
                        <a:rPr sz="1500" b="1">
                          <a:solidFill>
                            <a:srgbClr val="18222F"/>
                          </a:solidFill>
                          <a:latin typeface="Calibri"/>
                        </a:rPr>
                        <a:t>Trust and auditability</a:t>
                      </a:r>
                    </a:p>
                  </a:txBody>
                  <a:tcPr marL="73152" marR="73152" marT="36576" marB="36576">
                    <a:solidFill>
                      <a:srgbClr val="F1F0EC"/>
                    </a:solidFill>
                  </a:tcPr>
                </a:tc>
                <a:tc>
                  <a:txBody>
                    <a:bodyPr wrap="square"/>
                    <a:lstStyle/>
                    <a:p>
                      <a:r>
                        <a:rPr sz="1500" b="0">
                          <a:solidFill>
                            <a:srgbClr val="18222F"/>
                          </a:solidFill>
                          <a:latin typeface="Calibri"/>
                        </a:rPr>
                        <a:t>every statement tagged with its source; LLM output checked by code</a:t>
                      </a:r>
                    </a:p>
                  </a:txBody>
                  <a:tcPr marL="73152" marR="73152" marT="36576" marB="36576">
                    <a:solidFill>
                      <a:srgbClr val="F1F0EC"/>
                    </a:solidFill>
                  </a:tcPr>
                </a:tc>
              </a:tr>
              <a:tr h="566928">
                <a:tc>
                  <a:txBody>
                    <a:bodyPr wrap="square"/>
                    <a:lstStyle/>
                    <a:p>
                      <a:r>
                        <a:rPr sz="1500" b="1">
                          <a:solidFill>
                            <a:srgbClr val="18222F"/>
                          </a:solidFill>
                          <a:latin typeface="Calibri"/>
                        </a:rPr>
                        <a:t>Safe, local operation</a:t>
                      </a:r>
                    </a:p>
                  </a:txBody>
                  <a:tcPr marL="73152" marR="73152" marT="36576" marB="36576">
                    <a:solidFill>
                      <a:srgbClr val="FFFFFF"/>
                    </a:solidFill>
                  </a:tcPr>
                </a:tc>
                <a:tc>
                  <a:txBody>
                    <a:bodyPr wrap="square"/>
                    <a:lstStyle/>
                    <a:p>
                      <a:r>
                        <a:rPr sz="1500" b="0">
                          <a:solidFill>
                            <a:srgbClr val="18222F"/>
                          </a:solidFill>
                          <a:latin typeface="Calibri"/>
                        </a:rPr>
                        <a:t>runs on a laptop; works offline; refuses requests to act on the network</a:t>
                      </a:r>
                    </a:p>
                  </a:txBody>
                  <a:tcPr marL="73152" marR="73152" marT="36576" marB="36576">
                    <a:solidFill>
                      <a:srgbClr val="FFFFFF"/>
                    </a:solidFill>
                  </a:tcPr>
                </a:tc>
              </a:tr>
            </a:tbl>
          </a:graphicData>
        </a:graphic>
      </p:graphicFrame>
      <p:sp>
        <p:nvSpPr>
          <p:cNvPr id="7" name="TextBox 6"/>
          <p:cNvSpPr txBox="1"/>
          <p:nvPr/>
        </p:nvSpPr>
        <p:spPr>
          <a:xfrm>
            <a:off x="548640" y="5623560"/>
            <a:ext cx="10972800" cy="457200"/>
          </a:xfrm>
          <a:prstGeom prst="rect">
            <a:avLst/>
          </a:prstGeom>
          <a:noFill/>
        </p:spPr>
        <p:txBody>
          <a:bodyPr wrap="square" anchor="t" lIns="0" rIns="0" tIns="0" bIns="0">
            <a:spAutoFit/>
          </a:bodyPr>
          <a:lstStyle/>
          <a:p>
            <a:pPr algn="l">
              <a:lnSpc>
                <a:spcPct val="112000"/>
              </a:lnSpc>
              <a:spcAft>
                <a:spcPts val="600"/>
              </a:spcAft>
            </a:pPr>
            <a:r>
              <a:rPr sz="1400" b="0">
                <a:solidFill>
                  <a:srgbClr val="5F6B7A"/>
                </a:solidFill>
                <a:latin typeface="Calibri"/>
              </a:rPr>
              <a:t>Decision support only: recommendations are options to evaluate, never guaranteed KPI improvements.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5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972800" cy="320040"/>
          </a:xfrm>
          <a:prstGeom prst="rect">
            <a:avLst/>
          </a:prstGeom>
          <a:noFill/>
        </p:spPr>
        <p:txBody>
          <a:bodyPr wrap="square" anchor="t" lIns="0" rIns="0" tIns="0" bIns="0">
            <a:spAutoFit/>
          </a:bodyPr>
          <a:lstStyle/>
          <a:p>
            <a:pPr algn="l">
              <a:lnSpc>
                <a:spcPct val="112000"/>
              </a:lnSpc>
              <a:spcAft>
                <a:spcPts val="600"/>
              </a:spcAft>
            </a:pPr>
            <a:r>
              <a:rPr sz="1200" b="1">
                <a:solidFill>
                  <a:srgbClr val="1F63B8"/>
                </a:solidFill>
                <a:latin typeface="Calibri"/>
              </a:rPr>
              <a:t>SOLUTION OVERVIEW</a:t>
            </a:r>
          </a:p>
        </p:txBody>
      </p:sp>
      <p:sp>
        <p:nvSpPr>
          <p:cNvPr id="4" name="TextBox 3"/>
          <p:cNvSpPr txBox="1"/>
          <p:nvPr/>
        </p:nvSpPr>
        <p:spPr>
          <a:xfrm>
            <a:off x="548640" y="713232"/>
            <a:ext cx="11064240" cy="822960"/>
          </a:xfrm>
          <a:prstGeom prst="rect">
            <a:avLst/>
          </a:prstGeom>
          <a:noFill/>
        </p:spPr>
        <p:txBody>
          <a:bodyPr wrap="square" anchor="t" lIns="0" rIns="0" tIns="0" bIns="0">
            <a:spAutoFit/>
          </a:bodyPr>
          <a:lstStyle/>
          <a:p>
            <a:pPr algn="l">
              <a:lnSpc>
                <a:spcPct val="100000"/>
              </a:lnSpc>
              <a:spcAft>
                <a:spcPts val="600"/>
              </a:spcAft>
            </a:pPr>
            <a:r>
              <a:rPr sz="3000" b="1">
                <a:solidFill>
                  <a:srgbClr val="18222F"/>
                </a:solidFill>
                <a:latin typeface="Calibri"/>
              </a:rPr>
              <a:t>One question in, an evidence-backed assessment out</a:t>
            </a:r>
          </a:p>
        </p:txBody>
      </p:sp>
      <p:sp>
        <p:nvSpPr>
          <p:cNvPr id="5" name="TextBox 4"/>
          <p:cNvSpPr txBox="1"/>
          <p:nvPr/>
        </p:nvSpPr>
        <p:spPr>
          <a:xfrm>
            <a:off x="548640" y="6400800"/>
            <a:ext cx="8229600" cy="274320"/>
          </a:xfrm>
          <a:prstGeom prst="rect">
            <a:avLst/>
          </a:prstGeom>
          <a:noFill/>
        </p:spPr>
        <p:txBody>
          <a:bodyPr wrap="square" anchor="t" lIns="0" rIns="0" tIns="0" bIns="0">
            <a:spAutoFit/>
          </a:bodyPr>
          <a:lstStyle/>
          <a:p>
            <a:pPr algn="l">
              <a:lnSpc>
                <a:spcPct val="112000"/>
              </a:lnSpc>
              <a:spcAft>
                <a:spcPts val="600"/>
              </a:spcAft>
            </a:pPr>
            <a:r>
              <a:rPr sz="1000" b="0">
                <a:solidFill>
                  <a:srgbClr val="5F6B7A"/>
                </a:solidFill>
                <a:latin typeface="Calibri"/>
              </a:rPr>
              <a:t>Telecom NetOps Assistant · 4 / 12</a:t>
            </a:r>
          </a:p>
        </p:txBody>
      </p:sp>
      <p:sp>
        <p:nvSpPr>
          <p:cNvPr id="6" name="Rounded Rectangle 5"/>
          <p:cNvSpPr/>
          <p:nvPr/>
        </p:nvSpPr>
        <p:spPr>
          <a:xfrm>
            <a:off x="548640" y="1874519"/>
            <a:ext cx="2103120" cy="2103120"/>
          </a:xfrm>
          <a:prstGeom prst="roundRect">
            <a:avLst>
              <a:gd name="adj" fmla="val 6000"/>
            </a:avLst>
          </a:prstGeom>
          <a:solidFill>
            <a:srgbClr val="FFFFFF"/>
          </a:solidFill>
          <a:ln w="9525">
            <a:solidFill>
              <a:srgbClr val="DDDB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13232" y="1874519"/>
            <a:ext cx="1773936" cy="54864"/>
          </a:xfrm>
          <a:prstGeom prst="rect">
            <a:avLst/>
          </a:prstGeom>
          <a:solidFill>
            <a:srgbClr val="1F6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057400"/>
            <a:ext cx="1700784" cy="411480"/>
          </a:xfrm>
          <a:prstGeom prst="rect">
            <a:avLst/>
          </a:prstGeom>
          <a:noFill/>
        </p:spPr>
        <p:txBody>
          <a:bodyPr wrap="square" anchor="t" lIns="0" rIns="0" tIns="0" bIns="0">
            <a:spAutoFit/>
          </a:bodyPr>
          <a:lstStyle/>
          <a:p>
            <a:pPr algn="l">
              <a:lnSpc>
                <a:spcPct val="112000"/>
              </a:lnSpc>
              <a:spcAft>
                <a:spcPts val="600"/>
              </a:spcAft>
            </a:pPr>
            <a:r>
              <a:rPr sz="1500" b="1">
                <a:solidFill>
                  <a:srgbClr val="18222F"/>
                </a:solidFill>
                <a:latin typeface="Calibri"/>
              </a:rPr>
              <a:t>Similar cases</a:t>
            </a:r>
          </a:p>
        </p:txBody>
      </p:sp>
      <p:sp>
        <p:nvSpPr>
          <p:cNvPr id="9" name="TextBox 8"/>
          <p:cNvSpPr txBox="1"/>
          <p:nvPr/>
        </p:nvSpPr>
        <p:spPr>
          <a:xfrm>
            <a:off x="749808" y="2496312"/>
            <a:ext cx="1700784" cy="1371599"/>
          </a:xfrm>
          <a:prstGeom prst="rect">
            <a:avLst/>
          </a:prstGeom>
          <a:noFill/>
        </p:spPr>
        <p:txBody>
          <a:bodyPr wrap="square" anchor="t" lIns="0" rIns="0" tIns="0" bIns="0">
            <a:spAutoFit/>
          </a:bodyPr>
          <a:lstStyle/>
          <a:p>
            <a:pPr algn="l">
              <a:lnSpc>
                <a:spcPct val="115000"/>
              </a:lnSpc>
              <a:spcAft>
                <a:spcPts val="600"/>
              </a:spcAft>
            </a:pPr>
            <a:r>
              <a:rPr sz="1200" b="0">
                <a:solidFill>
                  <a:srgbClr val="3C4757"/>
                </a:solidFill>
                <a:latin typeface="Calibri"/>
              </a:rPr>
              <a:t>hybrid retrieval from 100,000 records</a:t>
            </a:r>
          </a:p>
        </p:txBody>
      </p:sp>
      <p:sp>
        <p:nvSpPr>
          <p:cNvPr id="10" name="Rounded Rectangle 9"/>
          <p:cNvSpPr/>
          <p:nvPr/>
        </p:nvSpPr>
        <p:spPr>
          <a:xfrm>
            <a:off x="2798064" y="1874519"/>
            <a:ext cx="2103120" cy="2103120"/>
          </a:xfrm>
          <a:prstGeom prst="roundRect">
            <a:avLst>
              <a:gd name="adj" fmla="val 6000"/>
            </a:avLst>
          </a:prstGeom>
          <a:solidFill>
            <a:srgbClr val="FFFFFF"/>
          </a:solidFill>
          <a:ln w="9525">
            <a:solidFill>
              <a:srgbClr val="DDDB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962656" y="1874519"/>
            <a:ext cx="1773936" cy="54864"/>
          </a:xfrm>
          <a:prstGeom prst="rect">
            <a:avLst/>
          </a:prstGeom>
          <a:solidFill>
            <a:srgbClr val="1F6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999232" y="2057400"/>
            <a:ext cx="1700784" cy="411480"/>
          </a:xfrm>
          <a:prstGeom prst="rect">
            <a:avLst/>
          </a:prstGeom>
          <a:noFill/>
        </p:spPr>
        <p:txBody>
          <a:bodyPr wrap="square" anchor="t" lIns="0" rIns="0" tIns="0" bIns="0">
            <a:spAutoFit/>
          </a:bodyPr>
          <a:lstStyle/>
          <a:p>
            <a:pPr algn="l">
              <a:lnSpc>
                <a:spcPct val="112000"/>
              </a:lnSpc>
              <a:spcAft>
                <a:spcPts val="600"/>
              </a:spcAft>
            </a:pPr>
            <a:r>
              <a:rPr sz="1500" b="1">
                <a:solidFill>
                  <a:srgbClr val="18222F"/>
                </a:solidFill>
                <a:latin typeface="Calibri"/>
              </a:rPr>
              <a:t>Labels</a:t>
            </a:r>
          </a:p>
        </p:txBody>
      </p:sp>
      <p:sp>
        <p:nvSpPr>
          <p:cNvPr id="13" name="TextBox 12"/>
          <p:cNvSpPr txBox="1"/>
          <p:nvPr/>
        </p:nvSpPr>
        <p:spPr>
          <a:xfrm>
            <a:off x="2999232" y="2496312"/>
            <a:ext cx="1700784" cy="1371599"/>
          </a:xfrm>
          <a:prstGeom prst="rect">
            <a:avLst/>
          </a:prstGeom>
          <a:noFill/>
        </p:spPr>
        <p:txBody>
          <a:bodyPr wrap="square" anchor="t" lIns="0" rIns="0" tIns="0" bIns="0">
            <a:spAutoFit/>
          </a:bodyPr>
          <a:lstStyle/>
          <a:p>
            <a:pPr algn="l">
              <a:lnSpc>
                <a:spcPct val="115000"/>
              </a:lnSpc>
              <a:spcAft>
                <a:spcPts val="600"/>
              </a:spcAft>
            </a:pPr>
            <a:r>
              <a:rPr sz="1200" b="0">
                <a:solidFill>
                  <a:srgbClr val="3C4757"/>
                </a:solidFill>
                <a:latin typeface="Calibri"/>
              </a:rPr>
              <a:t>category, severity and priority by documented rules, labelled as derived</a:t>
            </a:r>
          </a:p>
        </p:txBody>
      </p:sp>
      <p:sp>
        <p:nvSpPr>
          <p:cNvPr id="14" name="Rounded Rectangle 13"/>
          <p:cNvSpPr/>
          <p:nvPr/>
        </p:nvSpPr>
        <p:spPr>
          <a:xfrm>
            <a:off x="5047488" y="1874519"/>
            <a:ext cx="2103120" cy="2103120"/>
          </a:xfrm>
          <a:prstGeom prst="roundRect">
            <a:avLst>
              <a:gd name="adj" fmla="val 6000"/>
            </a:avLst>
          </a:prstGeom>
          <a:solidFill>
            <a:srgbClr val="FFFFFF"/>
          </a:solidFill>
          <a:ln w="9525">
            <a:solidFill>
              <a:srgbClr val="DDDB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212079" y="1874519"/>
            <a:ext cx="1773936" cy="54864"/>
          </a:xfrm>
          <a:prstGeom prst="rect">
            <a:avLst/>
          </a:prstGeom>
          <a:solidFill>
            <a:srgbClr val="1F6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248655" y="2057400"/>
            <a:ext cx="1700784" cy="411480"/>
          </a:xfrm>
          <a:prstGeom prst="rect">
            <a:avLst/>
          </a:prstGeom>
          <a:noFill/>
        </p:spPr>
        <p:txBody>
          <a:bodyPr wrap="square" anchor="t" lIns="0" rIns="0" tIns="0" bIns="0">
            <a:spAutoFit/>
          </a:bodyPr>
          <a:lstStyle/>
          <a:p>
            <a:pPr algn="l">
              <a:lnSpc>
                <a:spcPct val="112000"/>
              </a:lnSpc>
              <a:spcAft>
                <a:spcPts val="600"/>
              </a:spcAft>
            </a:pPr>
            <a:r>
              <a:rPr sz="1500" b="1">
                <a:solidFill>
                  <a:srgbClr val="18222F"/>
                </a:solidFill>
                <a:latin typeface="Calibri"/>
              </a:rPr>
              <a:t>Fault risk</a:t>
            </a:r>
          </a:p>
        </p:txBody>
      </p:sp>
      <p:sp>
        <p:nvSpPr>
          <p:cNvPr id="17" name="TextBox 16"/>
          <p:cNvSpPr txBox="1"/>
          <p:nvPr/>
        </p:nvSpPr>
        <p:spPr>
          <a:xfrm>
            <a:off x="5248655" y="2496312"/>
            <a:ext cx="1700784" cy="1371599"/>
          </a:xfrm>
          <a:prstGeom prst="rect">
            <a:avLst/>
          </a:prstGeom>
          <a:noFill/>
        </p:spPr>
        <p:txBody>
          <a:bodyPr wrap="square" anchor="t" lIns="0" rIns="0" tIns="0" bIns="0">
            <a:spAutoFit/>
          </a:bodyPr>
          <a:lstStyle/>
          <a:p>
            <a:pPr algn="l">
              <a:lnSpc>
                <a:spcPct val="115000"/>
              </a:lnSpc>
              <a:spcAft>
                <a:spcPts val="600"/>
              </a:spcAft>
            </a:pPr>
            <a:r>
              <a:rPr sz="1200" b="0">
                <a:solidFill>
                  <a:srgbClr val="3C4757"/>
                </a:solidFill>
                <a:latin typeface="Calibri"/>
              </a:rPr>
              <a:t>ML prediction next to the rate observed in similar cases</a:t>
            </a:r>
          </a:p>
        </p:txBody>
      </p:sp>
      <p:sp>
        <p:nvSpPr>
          <p:cNvPr id="18" name="Rounded Rectangle 17"/>
          <p:cNvSpPr/>
          <p:nvPr/>
        </p:nvSpPr>
        <p:spPr>
          <a:xfrm>
            <a:off x="7296912" y="1874519"/>
            <a:ext cx="2103120" cy="2103120"/>
          </a:xfrm>
          <a:prstGeom prst="roundRect">
            <a:avLst>
              <a:gd name="adj" fmla="val 6000"/>
            </a:avLst>
          </a:prstGeom>
          <a:solidFill>
            <a:srgbClr val="FFFFFF"/>
          </a:solidFill>
          <a:ln w="9525">
            <a:solidFill>
              <a:srgbClr val="DDDB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461504" y="1874519"/>
            <a:ext cx="1773936" cy="54864"/>
          </a:xfrm>
          <a:prstGeom prst="rect">
            <a:avLst/>
          </a:prstGeom>
          <a:solidFill>
            <a:srgbClr val="1F6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498079" y="2057400"/>
            <a:ext cx="1700784" cy="411480"/>
          </a:xfrm>
          <a:prstGeom prst="rect">
            <a:avLst/>
          </a:prstGeom>
          <a:noFill/>
        </p:spPr>
        <p:txBody>
          <a:bodyPr wrap="square" anchor="t" lIns="0" rIns="0" tIns="0" bIns="0">
            <a:spAutoFit/>
          </a:bodyPr>
          <a:lstStyle/>
          <a:p>
            <a:pPr algn="l">
              <a:lnSpc>
                <a:spcPct val="112000"/>
              </a:lnSpc>
              <a:spcAft>
                <a:spcPts val="600"/>
              </a:spcAft>
            </a:pPr>
            <a:r>
              <a:rPr sz="1500" b="1">
                <a:solidFill>
                  <a:srgbClr val="18222F"/>
                </a:solidFill>
                <a:latin typeface="Calibri"/>
              </a:rPr>
              <a:t>Ranked hypotheses</a:t>
            </a:r>
          </a:p>
        </p:txBody>
      </p:sp>
      <p:sp>
        <p:nvSpPr>
          <p:cNvPr id="21" name="TextBox 20"/>
          <p:cNvSpPr txBox="1"/>
          <p:nvPr/>
        </p:nvSpPr>
        <p:spPr>
          <a:xfrm>
            <a:off x="7498079" y="2496312"/>
            <a:ext cx="1700784" cy="1371599"/>
          </a:xfrm>
          <a:prstGeom prst="rect">
            <a:avLst/>
          </a:prstGeom>
          <a:noFill/>
        </p:spPr>
        <p:txBody>
          <a:bodyPr wrap="square" anchor="t" lIns="0" rIns="0" tIns="0" bIns="0">
            <a:spAutoFit/>
          </a:bodyPr>
          <a:lstStyle/>
          <a:p>
            <a:pPr algn="l">
              <a:lnSpc>
                <a:spcPct val="115000"/>
              </a:lnSpc>
              <a:spcAft>
                <a:spcPts val="600"/>
              </a:spcAft>
            </a:pPr>
            <a:r>
              <a:rPr sz="1200" b="0">
                <a:solidFill>
                  <a:srgbClr val="3C4757"/>
                </a:solidFill>
                <a:latin typeface="Calibri"/>
              </a:rPr>
              <a:t>with confidence, evidence for and against</a:t>
            </a:r>
          </a:p>
        </p:txBody>
      </p:sp>
      <p:sp>
        <p:nvSpPr>
          <p:cNvPr id="22" name="Rounded Rectangle 21"/>
          <p:cNvSpPr/>
          <p:nvPr/>
        </p:nvSpPr>
        <p:spPr>
          <a:xfrm>
            <a:off x="9546336" y="1874519"/>
            <a:ext cx="2103120" cy="2103120"/>
          </a:xfrm>
          <a:prstGeom prst="roundRect">
            <a:avLst>
              <a:gd name="adj" fmla="val 6000"/>
            </a:avLst>
          </a:prstGeom>
          <a:solidFill>
            <a:srgbClr val="FFFFFF"/>
          </a:solidFill>
          <a:ln w="9525">
            <a:solidFill>
              <a:srgbClr val="DDDB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9710928" y="1874519"/>
            <a:ext cx="1773936" cy="54864"/>
          </a:xfrm>
          <a:prstGeom prst="rect">
            <a:avLst/>
          </a:prstGeom>
          <a:solidFill>
            <a:srgbClr val="1F6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747504" y="2057400"/>
            <a:ext cx="1700784" cy="411480"/>
          </a:xfrm>
          <a:prstGeom prst="rect">
            <a:avLst/>
          </a:prstGeom>
          <a:noFill/>
        </p:spPr>
        <p:txBody>
          <a:bodyPr wrap="square" anchor="t" lIns="0" rIns="0" tIns="0" bIns="0">
            <a:spAutoFit/>
          </a:bodyPr>
          <a:lstStyle/>
          <a:p>
            <a:pPr algn="l">
              <a:lnSpc>
                <a:spcPct val="112000"/>
              </a:lnSpc>
              <a:spcAft>
                <a:spcPts val="600"/>
              </a:spcAft>
            </a:pPr>
            <a:r>
              <a:rPr sz="1500" b="1">
                <a:solidFill>
                  <a:srgbClr val="18222F"/>
                </a:solidFill>
                <a:latin typeface="Calibri"/>
              </a:rPr>
              <a:t>Checks and actions</a:t>
            </a:r>
          </a:p>
        </p:txBody>
      </p:sp>
      <p:sp>
        <p:nvSpPr>
          <p:cNvPr id="25" name="TextBox 24"/>
          <p:cNvSpPr txBox="1"/>
          <p:nvPr/>
        </p:nvSpPr>
        <p:spPr>
          <a:xfrm>
            <a:off x="9747504" y="2496312"/>
            <a:ext cx="1700784" cy="1371599"/>
          </a:xfrm>
          <a:prstGeom prst="rect">
            <a:avLst/>
          </a:prstGeom>
          <a:noFill/>
        </p:spPr>
        <p:txBody>
          <a:bodyPr wrap="square" anchor="t" lIns="0" rIns="0" tIns="0" bIns="0">
            <a:spAutoFit/>
          </a:bodyPr>
          <a:lstStyle/>
          <a:p>
            <a:pPr algn="l">
              <a:lnSpc>
                <a:spcPct val="115000"/>
              </a:lnSpc>
              <a:spcAft>
                <a:spcPts val="600"/>
              </a:spcAft>
            </a:pPr>
            <a:r>
              <a:rPr sz="1200" b="0">
                <a:solidFill>
                  <a:srgbClr val="3C4757"/>
                </a:solidFill>
                <a:latin typeface="Calibri"/>
              </a:rPr>
              <a:t>what to verify, what to do, what to monitor</a:t>
            </a:r>
          </a:p>
        </p:txBody>
      </p:sp>
      <p:sp>
        <p:nvSpPr>
          <p:cNvPr id="26" name="TextBox 25"/>
          <p:cNvSpPr txBox="1"/>
          <p:nvPr/>
        </p:nvSpPr>
        <p:spPr>
          <a:xfrm>
            <a:off x="548640" y="4343400"/>
            <a:ext cx="11064240" cy="1463040"/>
          </a:xfrm>
          <a:prstGeom prst="rect">
            <a:avLst/>
          </a:prstGeom>
          <a:noFill/>
        </p:spPr>
        <p:txBody>
          <a:bodyPr wrap="square" anchor="t" lIns="0" rIns="0" tIns="0" bIns="0">
            <a:spAutoFit/>
          </a:bodyPr>
          <a:lstStyle/>
          <a:p>
            <a:pPr algn="l">
              <a:lnSpc>
                <a:spcPct val="112000"/>
              </a:lnSpc>
              <a:spcAft>
                <a:spcPts val="600"/>
              </a:spcAft>
            </a:pPr>
            <a:r>
              <a:rPr sz="1800" b="1">
                <a:solidFill>
                  <a:srgbClr val="18222F"/>
                </a:solidFill>
                <a:latin typeface="Calibri"/>
              </a:rPr>
              <a:t>How it stays honest</a:t>
            </a:r>
          </a:p>
          <a:p>
            <a:pPr algn="l">
              <a:lnSpc>
                <a:spcPct val="112000"/>
              </a:lnSpc>
              <a:spcAft>
                <a:spcPts val="600"/>
              </a:spcAft>
            </a:pPr>
            <a:r>
              <a:rPr sz="1500" b="0">
                <a:solidFill>
                  <a:srgbClr val="3C4757"/>
                </a:solidFill>
                <a:latin typeface="Calibri"/>
              </a:rPr>
              <a:t>Facts come from the data and from rules · estimates come from ML models with measured error · the LLM only explains, and a grounding gate rejects any number, ID or claim that is not in the evidence.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5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972800" cy="320040"/>
          </a:xfrm>
          <a:prstGeom prst="rect">
            <a:avLst/>
          </a:prstGeom>
          <a:noFill/>
        </p:spPr>
        <p:txBody>
          <a:bodyPr wrap="square" anchor="t" lIns="0" rIns="0" tIns="0" bIns="0">
            <a:spAutoFit/>
          </a:bodyPr>
          <a:lstStyle/>
          <a:p>
            <a:pPr algn="l">
              <a:lnSpc>
                <a:spcPct val="112000"/>
              </a:lnSpc>
              <a:spcAft>
                <a:spcPts val="600"/>
              </a:spcAft>
            </a:pPr>
            <a:r>
              <a:rPr sz="1200" b="1">
                <a:solidFill>
                  <a:srgbClr val="1F63B8"/>
                </a:solidFill>
                <a:latin typeface="Calibri"/>
              </a:rPr>
              <a:t>ARCHITECTURE</a:t>
            </a:r>
          </a:p>
        </p:txBody>
      </p:sp>
      <p:sp>
        <p:nvSpPr>
          <p:cNvPr id="4" name="TextBox 3"/>
          <p:cNvSpPr txBox="1"/>
          <p:nvPr/>
        </p:nvSpPr>
        <p:spPr>
          <a:xfrm>
            <a:off x="548640" y="713232"/>
            <a:ext cx="11064240" cy="822960"/>
          </a:xfrm>
          <a:prstGeom prst="rect">
            <a:avLst/>
          </a:prstGeom>
          <a:noFill/>
        </p:spPr>
        <p:txBody>
          <a:bodyPr wrap="square" anchor="t" lIns="0" rIns="0" tIns="0" bIns="0">
            <a:spAutoFit/>
          </a:bodyPr>
          <a:lstStyle/>
          <a:p>
            <a:pPr algn="l">
              <a:lnSpc>
                <a:spcPct val="100000"/>
              </a:lnSpc>
              <a:spcAft>
                <a:spcPts val="600"/>
              </a:spcAft>
            </a:pPr>
            <a:r>
              <a:rPr sz="3000" b="1">
                <a:solidFill>
                  <a:srgbClr val="18222F"/>
                </a:solidFill>
                <a:latin typeface="Calibri"/>
              </a:rPr>
              <a:t>Ten stages, one direction of trust</a:t>
            </a:r>
          </a:p>
        </p:txBody>
      </p:sp>
      <p:sp>
        <p:nvSpPr>
          <p:cNvPr id="5" name="TextBox 4"/>
          <p:cNvSpPr txBox="1"/>
          <p:nvPr/>
        </p:nvSpPr>
        <p:spPr>
          <a:xfrm>
            <a:off x="548640" y="6400800"/>
            <a:ext cx="8229600" cy="274320"/>
          </a:xfrm>
          <a:prstGeom prst="rect">
            <a:avLst/>
          </a:prstGeom>
          <a:noFill/>
        </p:spPr>
        <p:txBody>
          <a:bodyPr wrap="square" anchor="t" lIns="0" rIns="0" tIns="0" bIns="0">
            <a:spAutoFit/>
          </a:bodyPr>
          <a:lstStyle/>
          <a:p>
            <a:pPr algn="l">
              <a:lnSpc>
                <a:spcPct val="112000"/>
              </a:lnSpc>
              <a:spcAft>
                <a:spcPts val="600"/>
              </a:spcAft>
            </a:pPr>
            <a:r>
              <a:rPr sz="1000" b="0">
                <a:solidFill>
                  <a:srgbClr val="5F6B7A"/>
                </a:solidFill>
                <a:latin typeface="Calibri"/>
              </a:rPr>
              <a:t>Telecom NetOps Assistant · 5 / 12</a:t>
            </a:r>
          </a:p>
        </p:txBody>
      </p:sp>
      <p:pic>
        <p:nvPicPr>
          <p:cNvPr id="6" name="Picture 5" descr="Architecture_Diagram.png"/>
          <p:cNvPicPr>
            <a:picLocks noChangeAspect="1"/>
          </p:cNvPicPr>
          <p:nvPr/>
        </p:nvPicPr>
        <p:blipFill>
          <a:blip r:embed="rId2"/>
          <a:stretch>
            <a:fillRect/>
          </a:stretch>
        </p:blipFill>
        <p:spPr>
          <a:xfrm>
            <a:off x="1417320" y="1554480"/>
            <a:ext cx="8056679" cy="470916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5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972800" cy="320040"/>
          </a:xfrm>
          <a:prstGeom prst="rect">
            <a:avLst/>
          </a:prstGeom>
          <a:noFill/>
        </p:spPr>
        <p:txBody>
          <a:bodyPr wrap="square" anchor="t" lIns="0" rIns="0" tIns="0" bIns="0">
            <a:spAutoFit/>
          </a:bodyPr>
          <a:lstStyle/>
          <a:p>
            <a:pPr algn="l">
              <a:lnSpc>
                <a:spcPct val="112000"/>
              </a:lnSpc>
              <a:spcAft>
                <a:spcPts val="600"/>
              </a:spcAft>
            </a:pPr>
            <a:r>
              <a:rPr sz="1200" b="1">
                <a:solidFill>
                  <a:srgbClr val="1F63B8"/>
                </a:solidFill>
                <a:latin typeface="Calibri"/>
              </a:rPr>
              <a:t>DATA FLOW</a:t>
            </a:r>
          </a:p>
        </p:txBody>
      </p:sp>
      <p:sp>
        <p:nvSpPr>
          <p:cNvPr id="4" name="TextBox 3"/>
          <p:cNvSpPr txBox="1"/>
          <p:nvPr/>
        </p:nvSpPr>
        <p:spPr>
          <a:xfrm>
            <a:off x="548640" y="713232"/>
            <a:ext cx="11064240" cy="822960"/>
          </a:xfrm>
          <a:prstGeom prst="rect">
            <a:avLst/>
          </a:prstGeom>
          <a:noFill/>
        </p:spPr>
        <p:txBody>
          <a:bodyPr wrap="square" anchor="t" lIns="0" rIns="0" tIns="0" bIns="0">
            <a:spAutoFit/>
          </a:bodyPr>
          <a:lstStyle/>
          <a:p>
            <a:pPr algn="l">
              <a:lnSpc>
                <a:spcPct val="100000"/>
              </a:lnSpc>
              <a:spcAft>
                <a:spcPts val="600"/>
              </a:spcAft>
            </a:pPr>
            <a:r>
              <a:rPr sz="3000" b="1">
                <a:solidFill>
                  <a:srgbClr val="18222F"/>
                </a:solidFill>
                <a:latin typeface="Calibri"/>
              </a:rPr>
              <a:t>Following one real record and one real question</a:t>
            </a:r>
          </a:p>
        </p:txBody>
      </p:sp>
      <p:sp>
        <p:nvSpPr>
          <p:cNvPr id="5" name="TextBox 4"/>
          <p:cNvSpPr txBox="1"/>
          <p:nvPr/>
        </p:nvSpPr>
        <p:spPr>
          <a:xfrm>
            <a:off x="548640" y="6400800"/>
            <a:ext cx="8229600" cy="274320"/>
          </a:xfrm>
          <a:prstGeom prst="rect">
            <a:avLst/>
          </a:prstGeom>
          <a:noFill/>
        </p:spPr>
        <p:txBody>
          <a:bodyPr wrap="square" anchor="t" lIns="0" rIns="0" tIns="0" bIns="0">
            <a:spAutoFit/>
          </a:bodyPr>
          <a:lstStyle/>
          <a:p>
            <a:pPr algn="l">
              <a:lnSpc>
                <a:spcPct val="112000"/>
              </a:lnSpc>
              <a:spcAft>
                <a:spcPts val="600"/>
              </a:spcAft>
            </a:pPr>
            <a:r>
              <a:rPr sz="1000" b="0">
                <a:solidFill>
                  <a:srgbClr val="5F6B7A"/>
                </a:solidFill>
                <a:latin typeface="Calibri"/>
              </a:rPr>
              <a:t>Telecom NetOps Assistant · 6 / 12</a:t>
            </a:r>
          </a:p>
        </p:txBody>
      </p:sp>
      <p:sp>
        <p:nvSpPr>
          <p:cNvPr id="6" name="Rounded Rectangle 5"/>
          <p:cNvSpPr/>
          <p:nvPr/>
        </p:nvSpPr>
        <p:spPr>
          <a:xfrm>
            <a:off x="548640" y="1783080"/>
            <a:ext cx="2103120" cy="2148840"/>
          </a:xfrm>
          <a:prstGeom prst="roundRect">
            <a:avLst>
              <a:gd name="adj" fmla="val 6000"/>
            </a:avLst>
          </a:prstGeom>
          <a:solidFill>
            <a:srgbClr val="FFFFFF"/>
          </a:solidFill>
          <a:ln w="9525">
            <a:solidFill>
              <a:srgbClr val="DDDB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13232" y="1783080"/>
            <a:ext cx="1773936" cy="54864"/>
          </a:xfrm>
          <a:prstGeom prst="rect">
            <a:avLst/>
          </a:prstGeom>
          <a:solidFill>
            <a:srgbClr val="1F6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1965960"/>
            <a:ext cx="1700784" cy="411480"/>
          </a:xfrm>
          <a:prstGeom prst="rect">
            <a:avLst/>
          </a:prstGeom>
          <a:noFill/>
        </p:spPr>
        <p:txBody>
          <a:bodyPr wrap="square" anchor="t" lIns="0" rIns="0" tIns="0" bIns="0">
            <a:spAutoFit/>
          </a:bodyPr>
          <a:lstStyle/>
          <a:p>
            <a:pPr algn="l">
              <a:lnSpc>
                <a:spcPct val="112000"/>
              </a:lnSpc>
              <a:spcAft>
                <a:spcPts val="600"/>
              </a:spcAft>
            </a:pPr>
            <a:r>
              <a:rPr sz="1500" b="1">
                <a:solidFill>
                  <a:srgbClr val="18222F"/>
                </a:solidFill>
                <a:latin typeface="Calibri"/>
              </a:rPr>
              <a:t>Raw row</a:t>
            </a:r>
          </a:p>
        </p:txBody>
      </p:sp>
      <p:sp>
        <p:nvSpPr>
          <p:cNvPr id="9" name="TextBox 8"/>
          <p:cNvSpPr txBox="1"/>
          <p:nvPr/>
        </p:nvSpPr>
        <p:spPr>
          <a:xfrm>
            <a:off x="749808" y="2404872"/>
            <a:ext cx="1700784" cy="1417320"/>
          </a:xfrm>
          <a:prstGeom prst="rect">
            <a:avLst/>
          </a:prstGeom>
          <a:noFill/>
        </p:spPr>
        <p:txBody>
          <a:bodyPr wrap="square" anchor="t" lIns="0" rIns="0" tIns="0" bIns="0">
            <a:spAutoFit/>
          </a:bodyPr>
          <a:lstStyle/>
          <a:p>
            <a:pPr algn="l">
              <a:lnSpc>
                <a:spcPct val="115000"/>
              </a:lnSpc>
              <a:spcAft>
                <a:spcPts val="600"/>
              </a:spcAft>
            </a:pPr>
            <a:r>
              <a:rPr sz="1150" b="0">
                <a:solidFill>
                  <a:srgbClr val="3C4757"/>
                </a:solidFill>
                <a:latin typeface="Calibri"/>
              </a:rPr>
              <a:t>ROW-033707: latency 168.408 ms, packet loss 13.702 %, Snow, Cochranville MN</a:t>
            </a:r>
          </a:p>
        </p:txBody>
      </p:sp>
      <p:sp>
        <p:nvSpPr>
          <p:cNvPr id="10" name="Rounded Rectangle 9"/>
          <p:cNvSpPr/>
          <p:nvPr/>
        </p:nvSpPr>
        <p:spPr>
          <a:xfrm>
            <a:off x="2798064" y="1783080"/>
            <a:ext cx="2103120" cy="2148840"/>
          </a:xfrm>
          <a:prstGeom prst="roundRect">
            <a:avLst>
              <a:gd name="adj" fmla="val 6000"/>
            </a:avLst>
          </a:prstGeom>
          <a:solidFill>
            <a:srgbClr val="FFFFFF"/>
          </a:solidFill>
          <a:ln w="9525">
            <a:solidFill>
              <a:srgbClr val="DDDB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962656" y="1783080"/>
            <a:ext cx="1773936" cy="54864"/>
          </a:xfrm>
          <a:prstGeom prst="rect">
            <a:avLst/>
          </a:prstGeom>
          <a:solidFill>
            <a:srgbClr val="1F6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999232" y="1965960"/>
            <a:ext cx="1700784" cy="411480"/>
          </a:xfrm>
          <a:prstGeom prst="rect">
            <a:avLst/>
          </a:prstGeom>
          <a:noFill/>
        </p:spPr>
        <p:txBody>
          <a:bodyPr wrap="square" anchor="t" lIns="0" rIns="0" tIns="0" bIns="0">
            <a:spAutoFit/>
          </a:bodyPr>
          <a:lstStyle/>
          <a:p>
            <a:pPr algn="l">
              <a:lnSpc>
                <a:spcPct val="112000"/>
              </a:lnSpc>
              <a:spcAft>
                <a:spcPts val="600"/>
              </a:spcAft>
            </a:pPr>
            <a:r>
              <a:rPr sz="1500" b="1">
                <a:solidFill>
                  <a:srgbClr val="18222F"/>
                </a:solidFill>
                <a:latin typeface="Calibri"/>
              </a:rPr>
              <a:t>Preprocessed</a:t>
            </a:r>
          </a:p>
        </p:txBody>
      </p:sp>
      <p:sp>
        <p:nvSpPr>
          <p:cNvPr id="13" name="TextBox 12"/>
          <p:cNvSpPr txBox="1"/>
          <p:nvPr/>
        </p:nvSpPr>
        <p:spPr>
          <a:xfrm>
            <a:off x="2999232" y="2404872"/>
            <a:ext cx="1700784" cy="1417320"/>
          </a:xfrm>
          <a:prstGeom prst="rect">
            <a:avLst/>
          </a:prstGeom>
          <a:noFill/>
        </p:spPr>
        <p:txBody>
          <a:bodyPr wrap="square" anchor="t" lIns="0" rIns="0" tIns="0" bIns="0">
            <a:spAutoFit/>
          </a:bodyPr>
          <a:lstStyle/>
          <a:p>
            <a:pPr algn="l">
              <a:lnSpc>
                <a:spcPct val="115000"/>
              </a:lnSpc>
              <a:spcAft>
                <a:spcPts val="600"/>
              </a:spcAft>
            </a:pPr>
            <a:r>
              <a:rPr sz="1150" b="0">
                <a:solidFill>
                  <a:srgbClr val="3C4757"/>
                </a:solidFill>
                <a:latin typeface="Calibri"/>
              </a:rPr>
              <a:t>typed values + record_id; nothing altered</a:t>
            </a:r>
          </a:p>
        </p:txBody>
      </p:sp>
      <p:sp>
        <p:nvSpPr>
          <p:cNvPr id="14" name="Rounded Rectangle 13"/>
          <p:cNvSpPr/>
          <p:nvPr/>
        </p:nvSpPr>
        <p:spPr>
          <a:xfrm>
            <a:off x="5047488" y="1783080"/>
            <a:ext cx="2103120" cy="2148840"/>
          </a:xfrm>
          <a:prstGeom prst="roundRect">
            <a:avLst>
              <a:gd name="adj" fmla="val 6000"/>
            </a:avLst>
          </a:prstGeom>
          <a:solidFill>
            <a:srgbClr val="FFFFFF"/>
          </a:solidFill>
          <a:ln w="9525">
            <a:solidFill>
              <a:srgbClr val="DDDB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212079" y="1783080"/>
            <a:ext cx="1773936" cy="54864"/>
          </a:xfrm>
          <a:prstGeom prst="rect">
            <a:avLst/>
          </a:prstGeom>
          <a:solidFill>
            <a:srgbClr val="1F6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248655" y="1965960"/>
            <a:ext cx="1700784" cy="411480"/>
          </a:xfrm>
          <a:prstGeom prst="rect">
            <a:avLst/>
          </a:prstGeom>
          <a:noFill/>
        </p:spPr>
        <p:txBody>
          <a:bodyPr wrap="square" anchor="t" lIns="0" rIns="0" tIns="0" bIns="0">
            <a:spAutoFit/>
          </a:bodyPr>
          <a:lstStyle/>
          <a:p>
            <a:pPr algn="l">
              <a:lnSpc>
                <a:spcPct val="112000"/>
              </a:lnSpc>
              <a:spcAft>
                <a:spcPts val="600"/>
              </a:spcAft>
            </a:pPr>
            <a:r>
              <a:rPr sz="1500" b="1">
                <a:solidFill>
                  <a:srgbClr val="18222F"/>
                </a:solidFill>
                <a:latin typeface="Calibri"/>
              </a:rPr>
              <a:t>Derived</a:t>
            </a:r>
          </a:p>
        </p:txBody>
      </p:sp>
      <p:sp>
        <p:nvSpPr>
          <p:cNvPr id="17" name="TextBox 16"/>
          <p:cNvSpPr txBox="1"/>
          <p:nvPr/>
        </p:nvSpPr>
        <p:spPr>
          <a:xfrm>
            <a:off x="5248655" y="2404872"/>
            <a:ext cx="1700784" cy="1417320"/>
          </a:xfrm>
          <a:prstGeom prst="rect">
            <a:avLst/>
          </a:prstGeom>
          <a:noFill/>
        </p:spPr>
        <p:txBody>
          <a:bodyPr wrap="square" anchor="t" lIns="0" rIns="0" tIns="0" bIns="0">
            <a:spAutoFit/>
          </a:bodyPr>
          <a:lstStyle/>
          <a:p>
            <a:pPr algn="l">
              <a:lnSpc>
                <a:spcPct val="115000"/>
              </a:lnSpc>
              <a:spcAft>
                <a:spcPts val="600"/>
              </a:spcAft>
            </a:pPr>
            <a:r>
              <a:rPr sz="1150" b="0">
                <a:solidFill>
                  <a:srgbClr val="3C4757"/>
                </a:solidFill>
                <a:latin typeface="Calibri"/>
              </a:rPr>
              <a:t>high_latency (&gt;129.92 ms), high_packet_loss (&gt;11.88 %) → Service Degradation, HIGH, P3</a:t>
            </a:r>
          </a:p>
        </p:txBody>
      </p:sp>
      <p:sp>
        <p:nvSpPr>
          <p:cNvPr id="18" name="Rounded Rectangle 17"/>
          <p:cNvSpPr/>
          <p:nvPr/>
        </p:nvSpPr>
        <p:spPr>
          <a:xfrm>
            <a:off x="7296912" y="1783080"/>
            <a:ext cx="2103120" cy="2148840"/>
          </a:xfrm>
          <a:prstGeom prst="roundRect">
            <a:avLst>
              <a:gd name="adj" fmla="val 6000"/>
            </a:avLst>
          </a:prstGeom>
          <a:solidFill>
            <a:srgbClr val="FFFFFF"/>
          </a:solidFill>
          <a:ln w="9525">
            <a:solidFill>
              <a:srgbClr val="DDDB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461504" y="1783080"/>
            <a:ext cx="1773936" cy="54864"/>
          </a:xfrm>
          <a:prstGeom prst="rect">
            <a:avLst/>
          </a:prstGeom>
          <a:solidFill>
            <a:srgbClr val="1F6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498079" y="1965960"/>
            <a:ext cx="1700784" cy="411480"/>
          </a:xfrm>
          <a:prstGeom prst="rect">
            <a:avLst/>
          </a:prstGeom>
          <a:noFill/>
        </p:spPr>
        <p:txBody>
          <a:bodyPr wrap="square" anchor="t" lIns="0" rIns="0" tIns="0" bIns="0">
            <a:spAutoFit/>
          </a:bodyPr>
          <a:lstStyle/>
          <a:p>
            <a:pPr algn="l">
              <a:lnSpc>
                <a:spcPct val="112000"/>
              </a:lnSpc>
              <a:spcAft>
                <a:spcPts val="600"/>
              </a:spcAft>
            </a:pPr>
            <a:r>
              <a:rPr sz="1500" b="1">
                <a:solidFill>
                  <a:srgbClr val="18222F"/>
                </a:solidFill>
                <a:latin typeface="Calibri"/>
              </a:rPr>
              <a:t>Chunk</a:t>
            </a:r>
          </a:p>
        </p:txBody>
      </p:sp>
      <p:sp>
        <p:nvSpPr>
          <p:cNvPr id="21" name="TextBox 20"/>
          <p:cNvSpPr txBox="1"/>
          <p:nvPr/>
        </p:nvSpPr>
        <p:spPr>
          <a:xfrm>
            <a:off x="7498079" y="2404872"/>
            <a:ext cx="1700784" cy="1417320"/>
          </a:xfrm>
          <a:prstGeom prst="rect">
            <a:avLst/>
          </a:prstGeom>
          <a:noFill/>
        </p:spPr>
        <p:txBody>
          <a:bodyPr wrap="square" anchor="t" lIns="0" rIns="0" tIns="0" bIns="0">
            <a:spAutoFit/>
          </a:bodyPr>
          <a:lstStyle/>
          <a:p>
            <a:pPr algn="l">
              <a:lnSpc>
                <a:spcPct val="115000"/>
              </a:lnSpc>
              <a:spcAft>
                <a:spcPts val="600"/>
              </a:spcAft>
            </a:pPr>
            <a:r>
              <a:rPr sz="1150" b="0">
                <a:solidFill>
                  <a:srgbClr val="3C4757"/>
                </a:solidFill>
                <a:latin typeface="Calibri"/>
              </a:rPr>
              <a:t>embedding_text (qualitative) + search_text (full, with numbers)</a:t>
            </a:r>
          </a:p>
        </p:txBody>
      </p:sp>
      <p:sp>
        <p:nvSpPr>
          <p:cNvPr id="22" name="Rounded Rectangle 21"/>
          <p:cNvSpPr/>
          <p:nvPr/>
        </p:nvSpPr>
        <p:spPr>
          <a:xfrm>
            <a:off x="9546336" y="1783080"/>
            <a:ext cx="2103120" cy="2148840"/>
          </a:xfrm>
          <a:prstGeom prst="roundRect">
            <a:avLst>
              <a:gd name="adj" fmla="val 6000"/>
            </a:avLst>
          </a:prstGeom>
          <a:solidFill>
            <a:srgbClr val="FFFFFF"/>
          </a:solidFill>
          <a:ln w="9525">
            <a:solidFill>
              <a:srgbClr val="DDDB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9710928" y="1783080"/>
            <a:ext cx="1773936" cy="54864"/>
          </a:xfrm>
          <a:prstGeom prst="rect">
            <a:avLst/>
          </a:prstGeom>
          <a:solidFill>
            <a:srgbClr val="1F6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747504" y="1965960"/>
            <a:ext cx="1700784" cy="411480"/>
          </a:xfrm>
          <a:prstGeom prst="rect">
            <a:avLst/>
          </a:prstGeom>
          <a:noFill/>
        </p:spPr>
        <p:txBody>
          <a:bodyPr wrap="square" anchor="t" lIns="0" rIns="0" tIns="0" bIns="0">
            <a:spAutoFit/>
          </a:bodyPr>
          <a:lstStyle/>
          <a:p>
            <a:pPr algn="l">
              <a:lnSpc>
                <a:spcPct val="112000"/>
              </a:lnSpc>
              <a:spcAft>
                <a:spcPts val="600"/>
              </a:spcAft>
            </a:pPr>
            <a:r>
              <a:rPr sz="1500" b="1">
                <a:solidFill>
                  <a:srgbClr val="18222F"/>
                </a:solidFill>
                <a:latin typeface="Calibri"/>
              </a:rPr>
              <a:t>Indexed</a:t>
            </a:r>
          </a:p>
        </p:txBody>
      </p:sp>
      <p:sp>
        <p:nvSpPr>
          <p:cNvPr id="25" name="TextBox 24"/>
          <p:cNvSpPr txBox="1"/>
          <p:nvPr/>
        </p:nvSpPr>
        <p:spPr>
          <a:xfrm>
            <a:off x="9747504" y="2404872"/>
            <a:ext cx="1700784" cy="1417320"/>
          </a:xfrm>
          <a:prstGeom prst="rect">
            <a:avLst/>
          </a:prstGeom>
          <a:noFill/>
        </p:spPr>
        <p:txBody>
          <a:bodyPr wrap="square" anchor="t" lIns="0" rIns="0" tIns="0" bIns="0">
            <a:spAutoFit/>
          </a:bodyPr>
          <a:lstStyle/>
          <a:p>
            <a:pPr algn="l">
              <a:lnSpc>
                <a:spcPct val="115000"/>
              </a:lnSpc>
              <a:spcAft>
                <a:spcPts val="600"/>
              </a:spcAft>
            </a:pPr>
            <a:r>
              <a:rPr sz="1150" b="0">
                <a:solidFill>
                  <a:srgbClr val="3C4757"/>
                </a:solidFill>
                <a:latin typeface="Calibri"/>
              </a:rPr>
              <a:t>ChromaDB: 384-number vector + metadata · BM25: 164 weighted terms</a:t>
            </a:r>
          </a:p>
        </p:txBody>
      </p:sp>
      <p:sp>
        <p:nvSpPr>
          <p:cNvPr id="26" name="TextBox 25"/>
          <p:cNvSpPr txBox="1"/>
          <p:nvPr/>
        </p:nvSpPr>
        <p:spPr>
          <a:xfrm>
            <a:off x="548640" y="4160520"/>
            <a:ext cx="11155680" cy="2103120"/>
          </a:xfrm>
          <a:prstGeom prst="rect">
            <a:avLst/>
          </a:prstGeom>
          <a:noFill/>
        </p:spPr>
        <p:txBody>
          <a:bodyPr wrap="square" anchor="t" lIns="0" rIns="0" tIns="0" bIns="0">
            <a:spAutoFit/>
          </a:bodyPr>
          <a:lstStyle/>
          <a:p>
            <a:pPr algn="l">
              <a:lnSpc>
                <a:spcPct val="112000"/>
              </a:lnSpc>
              <a:spcAft>
                <a:spcPts val="600"/>
              </a:spcAft>
            </a:pPr>
            <a:r>
              <a:rPr sz="1700" b="1">
                <a:solidFill>
                  <a:srgbClr val="18222F"/>
                </a:solidFill>
                <a:latin typeface="Calibri"/>
              </a:rPr>
              <a:t>Query: “High latency and packet loss during snow”</a:t>
            </a:r>
          </a:p>
          <a:p>
            <a:pPr algn="l">
              <a:lnSpc>
                <a:spcPct val="112000"/>
              </a:lnSpc>
              <a:spcAft>
                <a:spcPts val="600"/>
              </a:spcAft>
            </a:pPr>
            <a:r>
              <a:rPr sz="1400" b="0">
                <a:solidFill>
                  <a:srgbClr val="3C4757"/>
                </a:solidFill>
                <a:latin typeface="Calibri"/>
              </a:rPr>
              <a:t>Embedding search alone ranks latency-only records high; BM25 alone has nothing to match 'packet loss' on (it appears in every record, IDF 0) and its top hit has packet loss 5.98 %.</a:t>
            </a:r>
          </a:p>
          <a:p>
            <a:pPr algn="l">
              <a:lnSpc>
                <a:spcPct val="112000"/>
              </a:lnSpc>
              <a:spcAft>
                <a:spcPts val="600"/>
              </a:spcAft>
            </a:pPr>
            <a:r>
              <a:rPr sz="1400" b="0">
                <a:solidFill>
                  <a:srgbClr val="3C4757"/>
                </a:solidFill>
                <a:latin typeface="Calibri"/>
              </a:rPr>
              <a:t>Hybrid result: the top 5 all have high latency and high packet loss, in snow — metric similarity reads the actual values and fixes what each search misses.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5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972800" cy="320040"/>
          </a:xfrm>
          <a:prstGeom prst="rect">
            <a:avLst/>
          </a:prstGeom>
          <a:noFill/>
        </p:spPr>
        <p:txBody>
          <a:bodyPr wrap="square" anchor="t" lIns="0" rIns="0" tIns="0" bIns="0">
            <a:spAutoFit/>
          </a:bodyPr>
          <a:lstStyle/>
          <a:p>
            <a:pPr algn="l">
              <a:lnSpc>
                <a:spcPct val="112000"/>
              </a:lnSpc>
              <a:spcAft>
                <a:spcPts val="600"/>
              </a:spcAft>
            </a:pPr>
            <a:r>
              <a:rPr sz="1200" b="1">
                <a:solidFill>
                  <a:srgbClr val="1F63B8"/>
                </a:solidFill>
                <a:latin typeface="Calibri"/>
              </a:rPr>
              <a:t>TECHNOLOGY STACK</a:t>
            </a:r>
          </a:p>
        </p:txBody>
      </p:sp>
      <p:sp>
        <p:nvSpPr>
          <p:cNvPr id="4" name="TextBox 3"/>
          <p:cNvSpPr txBox="1"/>
          <p:nvPr/>
        </p:nvSpPr>
        <p:spPr>
          <a:xfrm>
            <a:off x="548640" y="713232"/>
            <a:ext cx="11064240" cy="822960"/>
          </a:xfrm>
          <a:prstGeom prst="rect">
            <a:avLst/>
          </a:prstGeom>
          <a:noFill/>
        </p:spPr>
        <p:txBody>
          <a:bodyPr wrap="square" anchor="t" lIns="0" rIns="0" tIns="0" bIns="0">
            <a:spAutoFit/>
          </a:bodyPr>
          <a:lstStyle/>
          <a:p>
            <a:pPr algn="l">
              <a:lnSpc>
                <a:spcPct val="100000"/>
              </a:lnSpc>
              <a:spcAft>
                <a:spcPts val="600"/>
              </a:spcAft>
            </a:pPr>
            <a:r>
              <a:rPr sz="3000" b="1">
                <a:solidFill>
                  <a:srgbClr val="18222F"/>
                </a:solidFill>
                <a:latin typeface="Calibri"/>
              </a:rPr>
              <a:t>Small, local, explainable components</a:t>
            </a:r>
          </a:p>
        </p:txBody>
      </p:sp>
      <p:sp>
        <p:nvSpPr>
          <p:cNvPr id="5" name="TextBox 4"/>
          <p:cNvSpPr txBox="1"/>
          <p:nvPr/>
        </p:nvSpPr>
        <p:spPr>
          <a:xfrm>
            <a:off x="548640" y="6400800"/>
            <a:ext cx="8229600" cy="274320"/>
          </a:xfrm>
          <a:prstGeom prst="rect">
            <a:avLst/>
          </a:prstGeom>
          <a:noFill/>
        </p:spPr>
        <p:txBody>
          <a:bodyPr wrap="square" anchor="t" lIns="0" rIns="0" tIns="0" bIns="0">
            <a:spAutoFit/>
          </a:bodyPr>
          <a:lstStyle/>
          <a:p>
            <a:pPr algn="l">
              <a:lnSpc>
                <a:spcPct val="112000"/>
              </a:lnSpc>
              <a:spcAft>
                <a:spcPts val="600"/>
              </a:spcAft>
            </a:pPr>
            <a:r>
              <a:rPr sz="1000" b="0">
                <a:solidFill>
                  <a:srgbClr val="5F6B7A"/>
                </a:solidFill>
                <a:latin typeface="Calibri"/>
              </a:rPr>
              <a:t>Telecom NetOps Assistant · 7 / 12</a:t>
            </a:r>
          </a:p>
        </p:txBody>
      </p:sp>
      <p:graphicFrame>
        <p:nvGraphicFramePr>
          <p:cNvPr id="6" name="Table 5"/>
          <p:cNvGraphicFramePr>
            <a:graphicFrameLocks noGrp="1"/>
          </p:cNvGraphicFramePr>
          <p:nvPr/>
        </p:nvGraphicFramePr>
        <p:xfrm>
          <a:off x="548640" y="1783080"/>
          <a:ext cx="11064240" cy="4279392"/>
        </p:xfrm>
        <a:graphic>
          <a:graphicData uri="http://schemas.openxmlformats.org/drawingml/2006/table">
            <a:tbl>
              <a:tblPr firstRow="1" bandRow="1">
                <a:tableStyleId>{5C22544A-7EE6-4342-B048-85BDC9FD1C3A}</a:tableStyleId>
              </a:tblPr>
              <a:tblGrid>
                <a:gridCol w="2194560"/>
                <a:gridCol w="4480560"/>
                <a:gridCol w="4389120"/>
              </a:tblGrid>
              <a:tr h="475488">
                <a:tc>
                  <a:txBody>
                    <a:bodyPr wrap="square"/>
                    <a:lstStyle/>
                    <a:p>
                      <a:r>
                        <a:rPr sz="1400" b="1">
                          <a:solidFill>
                            <a:srgbClr val="F6F5F1"/>
                          </a:solidFill>
                          <a:latin typeface="Calibri"/>
                        </a:rPr>
                        <a:t>Layer</a:t>
                      </a:r>
                    </a:p>
                  </a:txBody>
                  <a:tcPr marL="73152" marR="73152" marT="36576" marB="36576">
                    <a:solidFill>
                      <a:srgbClr val="18222F"/>
                    </a:solidFill>
                  </a:tcPr>
                </a:tc>
                <a:tc>
                  <a:txBody>
                    <a:bodyPr wrap="square"/>
                    <a:lstStyle/>
                    <a:p>
                      <a:r>
                        <a:rPr sz="1400" b="1">
                          <a:solidFill>
                            <a:srgbClr val="F6F5F1"/>
                          </a:solidFill>
                          <a:latin typeface="Calibri"/>
                        </a:rPr>
                        <a:t>Technology</a:t>
                      </a:r>
                    </a:p>
                  </a:txBody>
                  <a:tcPr marL="73152" marR="73152" marT="36576" marB="36576">
                    <a:solidFill>
                      <a:srgbClr val="18222F"/>
                    </a:solidFill>
                  </a:tcPr>
                </a:tc>
                <a:tc>
                  <a:txBody>
                    <a:bodyPr wrap="square"/>
                    <a:lstStyle/>
                    <a:p>
                      <a:r>
                        <a:rPr sz="1400" b="1">
                          <a:solidFill>
                            <a:srgbClr val="F6F5F1"/>
                          </a:solidFill>
                          <a:latin typeface="Calibri"/>
                        </a:rPr>
                        <a:t>Why</a:t>
                      </a:r>
                    </a:p>
                  </a:txBody>
                  <a:tcPr marL="73152" marR="73152" marT="36576" marB="36576">
                    <a:solidFill>
                      <a:srgbClr val="18222F"/>
                    </a:solidFill>
                  </a:tcPr>
                </a:tc>
              </a:tr>
              <a:tr h="475488">
                <a:tc>
                  <a:txBody>
                    <a:bodyPr wrap="square"/>
                    <a:lstStyle/>
                    <a:p>
                      <a:r>
                        <a:rPr sz="1400" b="1">
                          <a:solidFill>
                            <a:srgbClr val="18222F"/>
                          </a:solidFill>
                          <a:latin typeface="Calibri"/>
                        </a:rPr>
                        <a:t>Language</a:t>
                      </a:r>
                    </a:p>
                  </a:txBody>
                  <a:tcPr marL="73152" marR="73152" marT="36576" marB="36576">
                    <a:solidFill>
                      <a:srgbClr val="FFFFFF"/>
                    </a:solidFill>
                  </a:tcPr>
                </a:tc>
                <a:tc>
                  <a:txBody>
                    <a:bodyPr wrap="square"/>
                    <a:lstStyle/>
                    <a:p>
                      <a:r>
                        <a:rPr sz="1400" b="0">
                          <a:solidFill>
                            <a:srgbClr val="18222F"/>
                          </a:solidFill>
                          <a:latin typeface="Calibri"/>
                        </a:rPr>
                        <a:t>Python 3.12</a:t>
                      </a:r>
                    </a:p>
                  </a:txBody>
                  <a:tcPr marL="73152" marR="73152" marT="36576" marB="36576">
                    <a:solidFill>
                      <a:srgbClr val="FFFFFF"/>
                    </a:solidFill>
                  </a:tcPr>
                </a:tc>
                <a:tc>
                  <a:txBody>
                    <a:bodyPr wrap="square"/>
                    <a:lstStyle/>
                    <a:p>
                      <a:r>
                        <a:rPr sz="1400" b="0">
                          <a:solidFill>
                            <a:srgbClr val="18222F"/>
                          </a:solidFill>
                          <a:latin typeface="Calibri"/>
                        </a:rPr>
                        <a:t>data, ML and API in one language</a:t>
                      </a:r>
                    </a:p>
                  </a:txBody>
                  <a:tcPr marL="73152" marR="73152" marT="36576" marB="36576">
                    <a:solidFill>
                      <a:srgbClr val="FFFFFF"/>
                    </a:solidFill>
                  </a:tcPr>
                </a:tc>
              </a:tr>
              <a:tr h="475488">
                <a:tc>
                  <a:txBody>
                    <a:bodyPr wrap="square"/>
                    <a:lstStyle/>
                    <a:p>
                      <a:r>
                        <a:rPr sz="1400" b="1">
                          <a:solidFill>
                            <a:srgbClr val="18222F"/>
                          </a:solidFill>
                          <a:latin typeface="Calibri"/>
                        </a:rPr>
                        <a:t>LLM</a:t>
                      </a:r>
                    </a:p>
                  </a:txBody>
                  <a:tcPr marL="73152" marR="73152" marT="36576" marB="36576">
                    <a:solidFill>
                      <a:srgbClr val="F1F0EC"/>
                    </a:solidFill>
                  </a:tcPr>
                </a:tc>
                <a:tc>
                  <a:txBody>
                    <a:bodyPr wrap="square"/>
                    <a:lstStyle/>
                    <a:p>
                      <a:r>
                        <a:rPr sz="1400" b="0">
                          <a:solidFill>
                            <a:srgbClr val="18222F"/>
                          </a:solidFill>
                          <a:latin typeface="Calibri"/>
                        </a:rPr>
                        <a:t>NVIDIA API Catalog · openai/gpt-oss-20b</a:t>
                      </a:r>
                    </a:p>
                  </a:txBody>
                  <a:tcPr marL="73152" marR="73152" marT="36576" marB="36576">
                    <a:solidFill>
                      <a:srgbClr val="F1F0EC"/>
                    </a:solidFill>
                  </a:tcPr>
                </a:tc>
                <a:tc>
                  <a:txBody>
                    <a:bodyPr wrap="square"/>
                    <a:lstStyle/>
                    <a:p>
                      <a:r>
                        <a:rPr sz="1400" b="0">
                          <a:solidFill>
                            <a:srgbClr val="18222F"/>
                          </a:solidFill>
                          <a:latin typeface="Calibri"/>
                        </a:rPr>
                        <a:t>JSON-schema output; Claude also supported</a:t>
                      </a:r>
                    </a:p>
                  </a:txBody>
                  <a:tcPr marL="73152" marR="73152" marT="36576" marB="36576">
                    <a:solidFill>
                      <a:srgbClr val="F1F0EC"/>
                    </a:solidFill>
                  </a:tcPr>
                </a:tc>
              </a:tr>
              <a:tr h="475488">
                <a:tc>
                  <a:txBody>
                    <a:bodyPr wrap="square"/>
                    <a:lstStyle/>
                    <a:p>
                      <a:r>
                        <a:rPr sz="1400" b="1">
                          <a:solidFill>
                            <a:srgbClr val="18222F"/>
                          </a:solidFill>
                          <a:latin typeface="Calibri"/>
                        </a:rPr>
                        <a:t>Embedding model</a:t>
                      </a:r>
                    </a:p>
                  </a:txBody>
                  <a:tcPr marL="73152" marR="73152" marT="36576" marB="36576">
                    <a:solidFill>
                      <a:srgbClr val="FFFFFF"/>
                    </a:solidFill>
                  </a:tcPr>
                </a:tc>
                <a:tc>
                  <a:txBody>
                    <a:bodyPr wrap="square"/>
                    <a:lstStyle/>
                    <a:p>
                      <a:r>
                        <a:rPr sz="1400" b="0">
                          <a:solidFill>
                            <a:srgbClr val="18222F"/>
                          </a:solidFill>
                          <a:latin typeface="Calibri"/>
                        </a:rPr>
                        <a:t>sentence-transformers all-MiniLM-L6-v2</a:t>
                      </a:r>
                    </a:p>
                  </a:txBody>
                  <a:tcPr marL="73152" marR="73152" marT="36576" marB="36576">
                    <a:solidFill>
                      <a:srgbClr val="FFFFFF"/>
                    </a:solidFill>
                  </a:tcPr>
                </a:tc>
                <a:tc>
                  <a:txBody>
                    <a:bodyPr wrap="square"/>
                    <a:lstStyle/>
                    <a:p>
                      <a:r>
                        <a:rPr sz="1400" b="0">
                          <a:solidFill>
                            <a:srgbClr val="18222F"/>
                          </a:solidFill>
                          <a:latin typeface="Calibri"/>
                        </a:rPr>
                        <a:t>fast on CPU, 384 dimensions</a:t>
                      </a:r>
                    </a:p>
                  </a:txBody>
                  <a:tcPr marL="73152" marR="73152" marT="36576" marB="36576">
                    <a:solidFill>
                      <a:srgbClr val="FFFFFF"/>
                    </a:solidFill>
                  </a:tcPr>
                </a:tc>
              </a:tr>
              <a:tr h="475488">
                <a:tc>
                  <a:txBody>
                    <a:bodyPr wrap="square"/>
                    <a:lstStyle/>
                    <a:p>
                      <a:r>
                        <a:rPr sz="1400" b="1">
                          <a:solidFill>
                            <a:srgbClr val="18222F"/>
                          </a:solidFill>
                          <a:latin typeface="Calibri"/>
                        </a:rPr>
                        <a:t>Vector database</a:t>
                      </a:r>
                    </a:p>
                  </a:txBody>
                  <a:tcPr marL="73152" marR="73152" marT="36576" marB="36576">
                    <a:solidFill>
                      <a:srgbClr val="F1F0EC"/>
                    </a:solidFill>
                  </a:tcPr>
                </a:tc>
                <a:tc>
                  <a:txBody>
                    <a:bodyPr wrap="square"/>
                    <a:lstStyle/>
                    <a:p>
                      <a:r>
                        <a:rPr sz="1400" b="0">
                          <a:solidFill>
                            <a:srgbClr val="18222F"/>
                          </a:solidFill>
                          <a:latin typeface="Calibri"/>
                        </a:rPr>
                        <a:t>ChromaDB (HNSW, cosine)</a:t>
                      </a:r>
                    </a:p>
                  </a:txBody>
                  <a:tcPr marL="73152" marR="73152" marT="36576" marB="36576">
                    <a:solidFill>
                      <a:srgbClr val="F1F0EC"/>
                    </a:solidFill>
                  </a:tcPr>
                </a:tc>
                <a:tc>
                  <a:txBody>
                    <a:bodyPr wrap="square"/>
                    <a:lstStyle/>
                    <a:p>
                      <a:r>
                        <a:rPr sz="1400" b="0">
                          <a:solidFill>
                            <a:srgbClr val="18222F"/>
                          </a:solidFill>
                          <a:latin typeface="Calibri"/>
                        </a:rPr>
                        <a:t>local, metadata filters, id = record_id</a:t>
                      </a:r>
                    </a:p>
                  </a:txBody>
                  <a:tcPr marL="73152" marR="73152" marT="36576" marB="36576">
                    <a:solidFill>
                      <a:srgbClr val="F1F0EC"/>
                    </a:solidFill>
                  </a:tcPr>
                </a:tc>
              </a:tr>
              <a:tr h="475488">
                <a:tc>
                  <a:txBody>
                    <a:bodyPr wrap="square"/>
                    <a:lstStyle/>
                    <a:p>
                      <a:r>
                        <a:rPr sz="1400" b="1">
                          <a:solidFill>
                            <a:srgbClr val="18222F"/>
                          </a:solidFill>
                          <a:latin typeface="Calibri"/>
                        </a:rPr>
                        <a:t>Keyword search</a:t>
                      </a:r>
                    </a:p>
                  </a:txBody>
                  <a:tcPr marL="73152" marR="73152" marT="36576" marB="36576">
                    <a:solidFill>
                      <a:srgbClr val="FFFFFF"/>
                    </a:solidFill>
                  </a:tcPr>
                </a:tc>
                <a:tc>
                  <a:txBody>
                    <a:bodyPr wrap="square"/>
                    <a:lstStyle/>
                    <a:p>
                      <a:r>
                        <a:rPr sz="1400" b="0">
                          <a:solidFill>
                            <a:srgbClr val="18222F"/>
                          </a:solidFill>
                          <a:latin typeface="Calibri"/>
                        </a:rPr>
                        <a:t>BM25 (own sparse implementation)</a:t>
                      </a:r>
                    </a:p>
                  </a:txBody>
                  <a:tcPr marL="73152" marR="73152" marT="36576" marB="36576">
                    <a:solidFill>
                      <a:srgbClr val="FFFFFF"/>
                    </a:solidFill>
                  </a:tcPr>
                </a:tc>
                <a:tc>
                  <a:txBody>
                    <a:bodyPr wrap="square"/>
                    <a:lstStyle/>
                    <a:p>
                      <a:r>
                        <a:rPr sz="1400" b="0">
                          <a:solidFill>
                            <a:srgbClr val="18222F"/>
                          </a:solidFill>
                          <a:latin typeface="Calibri"/>
                        </a:rPr>
                        <a:t>exact names, places, conditions</a:t>
                      </a:r>
                    </a:p>
                  </a:txBody>
                  <a:tcPr marL="73152" marR="73152" marT="36576" marB="36576">
                    <a:solidFill>
                      <a:srgbClr val="FFFFFF"/>
                    </a:solidFill>
                  </a:tcPr>
                </a:tc>
              </a:tr>
              <a:tr h="475488">
                <a:tc>
                  <a:txBody>
                    <a:bodyPr wrap="square"/>
                    <a:lstStyle/>
                    <a:p>
                      <a:r>
                        <a:rPr sz="1400" b="1">
                          <a:solidFill>
                            <a:srgbClr val="18222F"/>
                          </a:solidFill>
                          <a:latin typeface="Calibri"/>
                        </a:rPr>
                        <a:t>ML</a:t>
                      </a:r>
                    </a:p>
                  </a:txBody>
                  <a:tcPr marL="73152" marR="73152" marT="36576" marB="36576">
                    <a:solidFill>
                      <a:srgbClr val="F1F0EC"/>
                    </a:solidFill>
                  </a:tcPr>
                </a:tc>
                <a:tc>
                  <a:txBody>
                    <a:bodyPr wrap="square"/>
                    <a:lstStyle/>
                    <a:p>
                      <a:r>
                        <a:rPr sz="1400" b="0">
                          <a:solidFill>
                            <a:srgbClr val="18222F"/>
                          </a:solidFill>
                          <a:latin typeface="Calibri"/>
                        </a:rPr>
                        <a:t>scikit-learn HistGradientBoosting</a:t>
                      </a:r>
                    </a:p>
                  </a:txBody>
                  <a:tcPr marL="73152" marR="73152" marT="36576" marB="36576">
                    <a:solidFill>
                      <a:srgbClr val="F1F0EC"/>
                    </a:solidFill>
                  </a:tcPr>
                </a:tc>
                <a:tc>
                  <a:txBody>
                    <a:bodyPr wrap="square"/>
                    <a:lstStyle/>
                    <a:p>
                      <a:r>
                        <a:rPr sz="1400" b="0">
                          <a:solidFill>
                            <a:srgbClr val="18222F"/>
                          </a:solidFill>
                          <a:latin typeface="Calibri"/>
                        </a:rPr>
                        <a:t>accurate; handles missing inputs</a:t>
                      </a:r>
                    </a:p>
                  </a:txBody>
                  <a:tcPr marL="73152" marR="73152" marT="36576" marB="36576">
                    <a:solidFill>
                      <a:srgbClr val="F1F0EC"/>
                    </a:solidFill>
                  </a:tcPr>
                </a:tc>
              </a:tr>
              <a:tr h="475488">
                <a:tc>
                  <a:txBody>
                    <a:bodyPr wrap="square"/>
                    <a:lstStyle/>
                    <a:p>
                      <a:r>
                        <a:rPr sz="1400" b="1">
                          <a:solidFill>
                            <a:srgbClr val="18222F"/>
                          </a:solidFill>
                          <a:latin typeface="Calibri"/>
                        </a:rPr>
                        <a:t>API / UI</a:t>
                      </a:r>
                    </a:p>
                  </a:txBody>
                  <a:tcPr marL="73152" marR="73152" marT="36576" marB="36576">
                    <a:solidFill>
                      <a:srgbClr val="FFFFFF"/>
                    </a:solidFill>
                  </a:tcPr>
                </a:tc>
                <a:tc>
                  <a:txBody>
                    <a:bodyPr wrap="square"/>
                    <a:lstStyle/>
                    <a:p>
                      <a:r>
                        <a:rPr sz="1400" b="0">
                          <a:solidFill>
                            <a:srgbClr val="18222F"/>
                          </a:solidFill>
                          <a:latin typeface="Calibri"/>
                        </a:rPr>
                        <a:t>FastAPI + Uvicorn + Pydantic / Streamlit</a:t>
                      </a:r>
                    </a:p>
                  </a:txBody>
                  <a:tcPr marL="73152" marR="73152" marT="36576" marB="36576">
                    <a:solidFill>
                      <a:srgbClr val="FFFFFF"/>
                    </a:solidFill>
                  </a:tcPr>
                </a:tc>
                <a:tc>
                  <a:txBody>
                    <a:bodyPr wrap="square"/>
                    <a:lstStyle/>
                    <a:p>
                      <a:r>
                        <a:rPr sz="1400" b="0">
                          <a:solidFill>
                            <a:srgbClr val="18222F"/>
                          </a:solidFill>
                          <a:latin typeface="Calibri"/>
                        </a:rPr>
                        <a:t>validated REST API; Python UI (+ React)</a:t>
                      </a:r>
                    </a:p>
                  </a:txBody>
                  <a:tcPr marL="73152" marR="73152" marT="36576" marB="36576">
                    <a:solidFill>
                      <a:srgbClr val="FFFFFF"/>
                    </a:solidFill>
                  </a:tcPr>
                </a:tc>
              </a:tr>
              <a:tr h="475488">
                <a:tc>
                  <a:txBody>
                    <a:bodyPr wrap="square"/>
                    <a:lstStyle/>
                    <a:p>
                      <a:r>
                        <a:rPr sz="1400" b="1">
                          <a:solidFill>
                            <a:srgbClr val="18222F"/>
                          </a:solidFill>
                          <a:latin typeface="Calibri"/>
                        </a:rPr>
                        <a:t>Evaluation</a:t>
                      </a:r>
                    </a:p>
                  </a:txBody>
                  <a:tcPr marL="73152" marR="73152" marT="36576" marB="36576">
                    <a:solidFill>
                      <a:srgbClr val="F1F0EC"/>
                    </a:solidFill>
                  </a:tcPr>
                </a:tc>
                <a:tc>
                  <a:txBody>
                    <a:bodyPr wrap="square"/>
                    <a:lstStyle/>
                    <a:p>
                      <a:r>
                        <a:rPr sz="1400" b="0">
                          <a:solidFill>
                            <a:srgbClr val="18222F"/>
                          </a:solidFill>
                          <a:latin typeface="Calibri"/>
                        </a:rPr>
                        <a:t>pytest · DeepEval</a:t>
                      </a:r>
                    </a:p>
                  </a:txBody>
                  <a:tcPr marL="73152" marR="73152" marT="36576" marB="36576">
                    <a:solidFill>
                      <a:srgbClr val="F1F0EC"/>
                    </a:solidFill>
                  </a:tcPr>
                </a:tc>
                <a:tc>
                  <a:txBody>
                    <a:bodyPr wrap="square"/>
                    <a:lstStyle/>
                    <a:p>
                      <a:r>
                        <a:rPr sz="1400" b="0">
                          <a:solidFill>
                            <a:srgbClr val="18222F"/>
                          </a:solidFill>
                          <a:latin typeface="Calibri"/>
                        </a:rPr>
                        <a:t>proofs and LLM-judged RAG metrics</a:t>
                      </a:r>
                    </a:p>
                  </a:txBody>
                  <a:tcPr marL="73152" marR="73152" marT="36576" marB="36576">
                    <a:solidFill>
                      <a:srgbClr val="F1F0EC"/>
                    </a:solidFill>
                  </a:tcPr>
                </a:tc>
              </a:tr>
            </a:tbl>
          </a:graphicData>
        </a:graphic>
      </p:graphicFrame>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5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972800" cy="320040"/>
          </a:xfrm>
          <a:prstGeom prst="rect">
            <a:avLst/>
          </a:prstGeom>
          <a:noFill/>
        </p:spPr>
        <p:txBody>
          <a:bodyPr wrap="square" anchor="t" lIns="0" rIns="0" tIns="0" bIns="0">
            <a:spAutoFit/>
          </a:bodyPr>
          <a:lstStyle/>
          <a:p>
            <a:pPr algn="l">
              <a:lnSpc>
                <a:spcPct val="112000"/>
              </a:lnSpc>
              <a:spcAft>
                <a:spcPts val="600"/>
              </a:spcAft>
            </a:pPr>
            <a:r>
              <a:rPr sz="1200" b="1">
                <a:solidFill>
                  <a:srgbClr val="1F63B8"/>
                </a:solidFill>
                <a:latin typeface="Calibri"/>
              </a:rPr>
              <a:t>AGENT WORKFLOW</a:t>
            </a:r>
          </a:p>
        </p:txBody>
      </p:sp>
      <p:sp>
        <p:nvSpPr>
          <p:cNvPr id="4" name="TextBox 3"/>
          <p:cNvSpPr txBox="1"/>
          <p:nvPr/>
        </p:nvSpPr>
        <p:spPr>
          <a:xfrm>
            <a:off x="548640" y="713232"/>
            <a:ext cx="11064240" cy="822960"/>
          </a:xfrm>
          <a:prstGeom prst="rect">
            <a:avLst/>
          </a:prstGeom>
          <a:noFill/>
        </p:spPr>
        <p:txBody>
          <a:bodyPr wrap="square" anchor="t" lIns="0" rIns="0" tIns="0" bIns="0">
            <a:spAutoFit/>
          </a:bodyPr>
          <a:lstStyle/>
          <a:p>
            <a:pPr algn="l">
              <a:lnSpc>
                <a:spcPct val="100000"/>
              </a:lnSpc>
              <a:spcAft>
                <a:spcPts val="600"/>
              </a:spcAft>
            </a:pPr>
            <a:r>
              <a:rPr sz="3000" b="1">
                <a:solidFill>
                  <a:srgbClr val="18222F"/>
                </a:solidFill>
                <a:latin typeface="Calibri"/>
              </a:rPr>
              <a:t>Six agents, one shared state, no loops</a:t>
            </a:r>
          </a:p>
        </p:txBody>
      </p:sp>
      <p:sp>
        <p:nvSpPr>
          <p:cNvPr id="5" name="TextBox 4"/>
          <p:cNvSpPr txBox="1"/>
          <p:nvPr/>
        </p:nvSpPr>
        <p:spPr>
          <a:xfrm>
            <a:off x="548640" y="6400800"/>
            <a:ext cx="8229600" cy="274320"/>
          </a:xfrm>
          <a:prstGeom prst="rect">
            <a:avLst/>
          </a:prstGeom>
          <a:noFill/>
        </p:spPr>
        <p:txBody>
          <a:bodyPr wrap="square" anchor="t" lIns="0" rIns="0" tIns="0" bIns="0">
            <a:spAutoFit/>
          </a:bodyPr>
          <a:lstStyle/>
          <a:p>
            <a:pPr algn="l">
              <a:lnSpc>
                <a:spcPct val="112000"/>
              </a:lnSpc>
              <a:spcAft>
                <a:spcPts val="600"/>
              </a:spcAft>
            </a:pPr>
            <a:r>
              <a:rPr sz="1000" b="0">
                <a:solidFill>
                  <a:srgbClr val="5F6B7A"/>
                </a:solidFill>
                <a:latin typeface="Calibri"/>
              </a:rPr>
              <a:t>Telecom NetOps Assistant · 8 / 12</a:t>
            </a:r>
          </a:p>
        </p:txBody>
      </p:sp>
      <p:pic>
        <p:nvPicPr>
          <p:cNvPr id="6" name="Picture 5" descr="agents.png"/>
          <p:cNvPicPr>
            <a:picLocks noChangeAspect="1"/>
          </p:cNvPicPr>
          <p:nvPr/>
        </p:nvPicPr>
        <p:blipFill>
          <a:blip r:embed="rId2"/>
          <a:stretch>
            <a:fillRect/>
          </a:stretch>
        </p:blipFill>
        <p:spPr>
          <a:xfrm>
            <a:off x="548640" y="1691640"/>
            <a:ext cx="11064240" cy="1997492"/>
          </a:xfrm>
          <a:prstGeom prst="rect">
            <a:avLst/>
          </a:prstGeom>
        </p:spPr>
      </p:pic>
      <p:sp>
        <p:nvSpPr>
          <p:cNvPr id="7" name="Rounded Rectangle 6"/>
          <p:cNvSpPr/>
          <p:nvPr/>
        </p:nvSpPr>
        <p:spPr>
          <a:xfrm>
            <a:off x="548640" y="3977639"/>
            <a:ext cx="1755648" cy="1143000"/>
          </a:xfrm>
          <a:prstGeom prst="roundRect">
            <a:avLst>
              <a:gd name="adj" fmla="val 6000"/>
            </a:avLst>
          </a:prstGeom>
          <a:solidFill>
            <a:srgbClr val="FFFFFF"/>
          </a:solidFill>
          <a:ln w="9525">
            <a:solidFill>
              <a:srgbClr val="DDDB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4160520"/>
            <a:ext cx="1353312" cy="411480"/>
          </a:xfrm>
          <a:prstGeom prst="rect">
            <a:avLst/>
          </a:prstGeom>
          <a:noFill/>
        </p:spPr>
        <p:txBody>
          <a:bodyPr wrap="square" anchor="t" lIns="0" rIns="0" tIns="0" bIns="0">
            <a:spAutoFit/>
          </a:bodyPr>
          <a:lstStyle/>
          <a:p>
            <a:pPr algn="l">
              <a:lnSpc>
                <a:spcPct val="112000"/>
              </a:lnSpc>
              <a:spcAft>
                <a:spcPts val="600"/>
              </a:spcAft>
            </a:pPr>
            <a:r>
              <a:rPr sz="1300" b="1">
                <a:solidFill>
                  <a:srgbClr val="18222F"/>
                </a:solidFill>
                <a:latin typeface="Calibri"/>
              </a:rPr>
              <a:t>Retrieval</a:t>
            </a:r>
          </a:p>
        </p:txBody>
      </p:sp>
      <p:sp>
        <p:nvSpPr>
          <p:cNvPr id="9" name="TextBox 8"/>
          <p:cNvSpPr txBox="1"/>
          <p:nvPr/>
        </p:nvSpPr>
        <p:spPr>
          <a:xfrm>
            <a:off x="749808" y="4599431"/>
            <a:ext cx="1353312" cy="411479"/>
          </a:xfrm>
          <a:prstGeom prst="rect">
            <a:avLst/>
          </a:prstGeom>
          <a:noFill/>
        </p:spPr>
        <p:txBody>
          <a:bodyPr wrap="square" anchor="t" lIns="0" rIns="0" tIns="0" bIns="0">
            <a:spAutoFit/>
          </a:bodyPr>
          <a:lstStyle/>
          <a:p>
            <a:pPr algn="l">
              <a:lnSpc>
                <a:spcPct val="115000"/>
              </a:lnSpc>
              <a:spcAft>
                <a:spcPts val="600"/>
              </a:spcAft>
            </a:pPr>
            <a:r>
              <a:rPr sz="1100" b="0">
                <a:solidFill>
                  <a:srgbClr val="3C4757"/>
                </a:solidFill>
                <a:latin typeface="Calibri"/>
              </a:rPr>
              <a:t>evidence</a:t>
            </a:r>
          </a:p>
        </p:txBody>
      </p:sp>
      <p:sp>
        <p:nvSpPr>
          <p:cNvPr id="10" name="Rounded Rectangle 9"/>
          <p:cNvSpPr/>
          <p:nvPr/>
        </p:nvSpPr>
        <p:spPr>
          <a:xfrm>
            <a:off x="2423160" y="3977639"/>
            <a:ext cx="1755648" cy="1143000"/>
          </a:xfrm>
          <a:prstGeom prst="roundRect">
            <a:avLst>
              <a:gd name="adj" fmla="val 6000"/>
            </a:avLst>
          </a:prstGeom>
          <a:solidFill>
            <a:srgbClr val="FFFFFF"/>
          </a:solidFill>
          <a:ln w="9525">
            <a:solidFill>
              <a:srgbClr val="DDDB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624328" y="4160520"/>
            <a:ext cx="1353312" cy="411480"/>
          </a:xfrm>
          <a:prstGeom prst="rect">
            <a:avLst/>
          </a:prstGeom>
          <a:noFill/>
        </p:spPr>
        <p:txBody>
          <a:bodyPr wrap="square" anchor="t" lIns="0" rIns="0" tIns="0" bIns="0">
            <a:spAutoFit/>
          </a:bodyPr>
          <a:lstStyle/>
          <a:p>
            <a:pPr algn="l">
              <a:lnSpc>
                <a:spcPct val="112000"/>
              </a:lnSpc>
              <a:spcAft>
                <a:spcPts val="600"/>
              </a:spcAft>
            </a:pPr>
            <a:r>
              <a:rPr sz="1300" b="1">
                <a:solidFill>
                  <a:srgbClr val="18222F"/>
                </a:solidFill>
                <a:latin typeface="Calibri"/>
              </a:rPr>
              <a:t>Classification</a:t>
            </a:r>
          </a:p>
        </p:txBody>
      </p:sp>
      <p:sp>
        <p:nvSpPr>
          <p:cNvPr id="12" name="TextBox 11"/>
          <p:cNvSpPr txBox="1"/>
          <p:nvPr/>
        </p:nvSpPr>
        <p:spPr>
          <a:xfrm>
            <a:off x="2624328" y="4599431"/>
            <a:ext cx="1353312" cy="411479"/>
          </a:xfrm>
          <a:prstGeom prst="rect">
            <a:avLst/>
          </a:prstGeom>
          <a:noFill/>
        </p:spPr>
        <p:txBody>
          <a:bodyPr wrap="square" anchor="t" lIns="0" rIns="0" tIns="0" bIns="0">
            <a:spAutoFit/>
          </a:bodyPr>
          <a:lstStyle/>
          <a:p>
            <a:pPr algn="l">
              <a:lnSpc>
                <a:spcPct val="115000"/>
              </a:lnSpc>
              <a:spcAft>
                <a:spcPts val="600"/>
              </a:spcAft>
            </a:pPr>
            <a:r>
              <a:rPr sz="1100" b="0">
                <a:solidFill>
                  <a:srgbClr val="3C4757"/>
                </a:solidFill>
                <a:latin typeface="Calibri"/>
              </a:rPr>
              <a:t>category, severity</a:t>
            </a:r>
          </a:p>
        </p:txBody>
      </p:sp>
      <p:sp>
        <p:nvSpPr>
          <p:cNvPr id="13" name="Rounded Rectangle 12"/>
          <p:cNvSpPr/>
          <p:nvPr/>
        </p:nvSpPr>
        <p:spPr>
          <a:xfrm>
            <a:off x="4297679" y="3977639"/>
            <a:ext cx="1755648" cy="1143000"/>
          </a:xfrm>
          <a:prstGeom prst="roundRect">
            <a:avLst>
              <a:gd name="adj" fmla="val 6000"/>
            </a:avLst>
          </a:prstGeom>
          <a:solidFill>
            <a:srgbClr val="FFFFFF"/>
          </a:solidFill>
          <a:ln w="9525">
            <a:solidFill>
              <a:srgbClr val="DDDB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498847" y="4160520"/>
            <a:ext cx="1353312" cy="411480"/>
          </a:xfrm>
          <a:prstGeom prst="rect">
            <a:avLst/>
          </a:prstGeom>
          <a:noFill/>
        </p:spPr>
        <p:txBody>
          <a:bodyPr wrap="square" anchor="t" lIns="0" rIns="0" tIns="0" bIns="0">
            <a:spAutoFit/>
          </a:bodyPr>
          <a:lstStyle/>
          <a:p>
            <a:pPr algn="l">
              <a:lnSpc>
                <a:spcPct val="112000"/>
              </a:lnSpc>
              <a:spcAft>
                <a:spcPts val="600"/>
              </a:spcAft>
            </a:pPr>
            <a:r>
              <a:rPr sz="1300" b="1">
                <a:solidFill>
                  <a:srgbClr val="18222F"/>
                </a:solidFill>
                <a:latin typeface="Calibri"/>
              </a:rPr>
              <a:t>Risk</a:t>
            </a:r>
          </a:p>
        </p:txBody>
      </p:sp>
      <p:sp>
        <p:nvSpPr>
          <p:cNvPr id="15" name="TextBox 14"/>
          <p:cNvSpPr txBox="1"/>
          <p:nvPr/>
        </p:nvSpPr>
        <p:spPr>
          <a:xfrm>
            <a:off x="4498847" y="4599431"/>
            <a:ext cx="1353312" cy="411479"/>
          </a:xfrm>
          <a:prstGeom prst="rect">
            <a:avLst/>
          </a:prstGeom>
          <a:noFill/>
        </p:spPr>
        <p:txBody>
          <a:bodyPr wrap="square" anchor="t" lIns="0" rIns="0" tIns="0" bIns="0">
            <a:spAutoFit/>
          </a:bodyPr>
          <a:lstStyle/>
          <a:p>
            <a:pPr algn="l">
              <a:lnSpc>
                <a:spcPct val="115000"/>
              </a:lnSpc>
              <a:spcAft>
                <a:spcPts val="600"/>
              </a:spcAft>
            </a:pPr>
            <a:r>
              <a:rPr sz="1100" b="0">
                <a:solidFill>
                  <a:srgbClr val="3C4757"/>
                </a:solidFill>
                <a:latin typeface="Calibri"/>
              </a:rPr>
              <a:t>prediction, priority</a:t>
            </a:r>
          </a:p>
        </p:txBody>
      </p:sp>
      <p:sp>
        <p:nvSpPr>
          <p:cNvPr id="16" name="Rounded Rectangle 15"/>
          <p:cNvSpPr/>
          <p:nvPr/>
        </p:nvSpPr>
        <p:spPr>
          <a:xfrm>
            <a:off x="6172199" y="3977639"/>
            <a:ext cx="1755648" cy="1143000"/>
          </a:xfrm>
          <a:prstGeom prst="roundRect">
            <a:avLst>
              <a:gd name="adj" fmla="val 6000"/>
            </a:avLst>
          </a:prstGeom>
          <a:solidFill>
            <a:srgbClr val="FFFFFF"/>
          </a:solidFill>
          <a:ln w="9525">
            <a:solidFill>
              <a:srgbClr val="DDDB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73367" y="4160520"/>
            <a:ext cx="1353312" cy="411480"/>
          </a:xfrm>
          <a:prstGeom prst="rect">
            <a:avLst/>
          </a:prstGeom>
          <a:noFill/>
        </p:spPr>
        <p:txBody>
          <a:bodyPr wrap="square" anchor="t" lIns="0" rIns="0" tIns="0" bIns="0">
            <a:spAutoFit/>
          </a:bodyPr>
          <a:lstStyle/>
          <a:p>
            <a:pPr algn="l">
              <a:lnSpc>
                <a:spcPct val="112000"/>
              </a:lnSpc>
              <a:spcAft>
                <a:spcPts val="600"/>
              </a:spcAft>
            </a:pPr>
            <a:r>
              <a:rPr sz="1300" b="1">
                <a:solidFill>
                  <a:srgbClr val="18222F"/>
                </a:solidFill>
                <a:latin typeface="Calibri"/>
              </a:rPr>
              <a:t>Diagnosis</a:t>
            </a:r>
          </a:p>
        </p:txBody>
      </p:sp>
      <p:sp>
        <p:nvSpPr>
          <p:cNvPr id="18" name="TextBox 17"/>
          <p:cNvSpPr txBox="1"/>
          <p:nvPr/>
        </p:nvSpPr>
        <p:spPr>
          <a:xfrm>
            <a:off x="6373367" y="4599431"/>
            <a:ext cx="1353312" cy="411479"/>
          </a:xfrm>
          <a:prstGeom prst="rect">
            <a:avLst/>
          </a:prstGeom>
          <a:noFill/>
        </p:spPr>
        <p:txBody>
          <a:bodyPr wrap="square" anchor="t" lIns="0" rIns="0" tIns="0" bIns="0">
            <a:spAutoFit/>
          </a:bodyPr>
          <a:lstStyle/>
          <a:p>
            <a:pPr algn="l">
              <a:lnSpc>
                <a:spcPct val="115000"/>
              </a:lnSpc>
              <a:spcAft>
                <a:spcPts val="600"/>
              </a:spcAft>
            </a:pPr>
            <a:r>
              <a:rPr sz="1100" b="0">
                <a:solidFill>
                  <a:srgbClr val="3C4757"/>
                </a:solidFill>
                <a:latin typeface="Calibri"/>
              </a:rPr>
              <a:t>hypotheses</a:t>
            </a:r>
          </a:p>
        </p:txBody>
      </p:sp>
      <p:sp>
        <p:nvSpPr>
          <p:cNvPr id="19" name="Rounded Rectangle 18"/>
          <p:cNvSpPr/>
          <p:nvPr/>
        </p:nvSpPr>
        <p:spPr>
          <a:xfrm>
            <a:off x="8046719" y="3977639"/>
            <a:ext cx="1755648" cy="1143000"/>
          </a:xfrm>
          <a:prstGeom prst="roundRect">
            <a:avLst>
              <a:gd name="adj" fmla="val 6000"/>
            </a:avLst>
          </a:prstGeom>
          <a:solidFill>
            <a:srgbClr val="FFFFFF"/>
          </a:solidFill>
          <a:ln w="9525">
            <a:solidFill>
              <a:srgbClr val="DDDB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47888" y="4160520"/>
            <a:ext cx="1353312" cy="411480"/>
          </a:xfrm>
          <a:prstGeom prst="rect">
            <a:avLst/>
          </a:prstGeom>
          <a:noFill/>
        </p:spPr>
        <p:txBody>
          <a:bodyPr wrap="square" anchor="t" lIns="0" rIns="0" tIns="0" bIns="0">
            <a:spAutoFit/>
          </a:bodyPr>
          <a:lstStyle/>
          <a:p>
            <a:pPr algn="l">
              <a:lnSpc>
                <a:spcPct val="112000"/>
              </a:lnSpc>
              <a:spcAft>
                <a:spcPts val="600"/>
              </a:spcAft>
            </a:pPr>
            <a:r>
              <a:rPr sz="1300" b="1">
                <a:solidFill>
                  <a:srgbClr val="18222F"/>
                </a:solidFill>
                <a:latin typeface="Calibri"/>
              </a:rPr>
              <a:t>Recommendation</a:t>
            </a:r>
          </a:p>
        </p:txBody>
      </p:sp>
      <p:sp>
        <p:nvSpPr>
          <p:cNvPr id="21" name="TextBox 20"/>
          <p:cNvSpPr txBox="1"/>
          <p:nvPr/>
        </p:nvSpPr>
        <p:spPr>
          <a:xfrm>
            <a:off x="8247888" y="4599431"/>
            <a:ext cx="1353312" cy="411479"/>
          </a:xfrm>
          <a:prstGeom prst="rect">
            <a:avLst/>
          </a:prstGeom>
          <a:noFill/>
        </p:spPr>
        <p:txBody>
          <a:bodyPr wrap="square" anchor="t" lIns="0" rIns="0" tIns="0" bIns="0">
            <a:spAutoFit/>
          </a:bodyPr>
          <a:lstStyle/>
          <a:p>
            <a:pPr algn="l">
              <a:lnSpc>
                <a:spcPct val="115000"/>
              </a:lnSpc>
              <a:spcAft>
                <a:spcPts val="600"/>
              </a:spcAft>
            </a:pPr>
            <a:r>
              <a:rPr sz="1100" b="0">
                <a:solidFill>
                  <a:srgbClr val="3C4757"/>
                </a:solidFill>
                <a:latin typeface="Calibri"/>
              </a:rPr>
              <a:t>actions + LLM explanation</a:t>
            </a:r>
          </a:p>
        </p:txBody>
      </p:sp>
      <p:sp>
        <p:nvSpPr>
          <p:cNvPr id="22" name="Rounded Rectangle 21"/>
          <p:cNvSpPr/>
          <p:nvPr/>
        </p:nvSpPr>
        <p:spPr>
          <a:xfrm>
            <a:off x="9921240" y="3977639"/>
            <a:ext cx="1755648" cy="1143000"/>
          </a:xfrm>
          <a:prstGeom prst="roundRect">
            <a:avLst>
              <a:gd name="adj" fmla="val 6000"/>
            </a:avLst>
          </a:prstGeom>
          <a:solidFill>
            <a:srgbClr val="FFFFFF"/>
          </a:solidFill>
          <a:ln w="9525">
            <a:solidFill>
              <a:srgbClr val="DDDB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122408" y="4160520"/>
            <a:ext cx="1353312" cy="411480"/>
          </a:xfrm>
          <a:prstGeom prst="rect">
            <a:avLst/>
          </a:prstGeom>
          <a:noFill/>
        </p:spPr>
        <p:txBody>
          <a:bodyPr wrap="square" anchor="t" lIns="0" rIns="0" tIns="0" bIns="0">
            <a:spAutoFit/>
          </a:bodyPr>
          <a:lstStyle/>
          <a:p>
            <a:pPr algn="l">
              <a:lnSpc>
                <a:spcPct val="112000"/>
              </a:lnSpc>
              <a:spcAft>
                <a:spcPts val="600"/>
              </a:spcAft>
            </a:pPr>
            <a:r>
              <a:rPr sz="1300" b="1">
                <a:solidFill>
                  <a:srgbClr val="18222F"/>
                </a:solidFill>
                <a:latin typeface="Calibri"/>
              </a:rPr>
              <a:t>Validation</a:t>
            </a:r>
          </a:p>
        </p:txBody>
      </p:sp>
      <p:sp>
        <p:nvSpPr>
          <p:cNvPr id="24" name="TextBox 23"/>
          <p:cNvSpPr txBox="1"/>
          <p:nvPr/>
        </p:nvSpPr>
        <p:spPr>
          <a:xfrm>
            <a:off x="10122408" y="4599431"/>
            <a:ext cx="1353312" cy="411479"/>
          </a:xfrm>
          <a:prstGeom prst="rect">
            <a:avLst/>
          </a:prstGeom>
          <a:noFill/>
        </p:spPr>
        <p:txBody>
          <a:bodyPr wrap="square" anchor="t" lIns="0" rIns="0" tIns="0" bIns="0">
            <a:spAutoFit/>
          </a:bodyPr>
          <a:lstStyle/>
          <a:p>
            <a:pPr algn="l">
              <a:lnSpc>
                <a:spcPct val="115000"/>
              </a:lnSpc>
              <a:spcAft>
                <a:spcPts val="600"/>
              </a:spcAft>
            </a:pPr>
            <a:r>
              <a:rPr sz="1100" b="0">
                <a:solidFill>
                  <a:srgbClr val="3C4757"/>
                </a:solidFill>
                <a:latin typeface="Calibri"/>
              </a:rPr>
              <a:t>checks, judge, provenance</a:t>
            </a:r>
          </a:p>
        </p:txBody>
      </p:sp>
      <p:sp>
        <p:nvSpPr>
          <p:cNvPr id="25" name="TextBox 24"/>
          <p:cNvSpPr txBox="1"/>
          <p:nvPr/>
        </p:nvSpPr>
        <p:spPr>
          <a:xfrm>
            <a:off x="548640" y="5349240"/>
            <a:ext cx="11064240" cy="822960"/>
          </a:xfrm>
          <a:prstGeom prst="rect">
            <a:avLst/>
          </a:prstGeom>
          <a:noFill/>
        </p:spPr>
        <p:txBody>
          <a:bodyPr wrap="square" anchor="t" lIns="0" rIns="0" tIns="0" bIns="0">
            <a:spAutoFit/>
          </a:bodyPr>
          <a:lstStyle/>
          <a:p>
            <a:pPr algn="l">
              <a:lnSpc>
                <a:spcPct val="112000"/>
              </a:lnSpc>
              <a:spcAft>
                <a:spcPts val="600"/>
              </a:spcAft>
            </a:pPr>
            <a:r>
              <a:rPr sz="1400" b="0">
                <a:solidFill>
                  <a:srgbClr val="3C4757"/>
                </a:solidFill>
                <a:latin typeface="Calibri"/>
              </a:rPr>
              <a:t>Agents communicate only through a typed shared state; each step is timed and traced. A test proves the agents return exactly the single pipeline's result.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5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972800" cy="320040"/>
          </a:xfrm>
          <a:prstGeom prst="rect">
            <a:avLst/>
          </a:prstGeom>
          <a:noFill/>
        </p:spPr>
        <p:txBody>
          <a:bodyPr wrap="square" anchor="t" lIns="0" rIns="0" tIns="0" bIns="0">
            <a:spAutoFit/>
          </a:bodyPr>
          <a:lstStyle/>
          <a:p>
            <a:pPr algn="l">
              <a:lnSpc>
                <a:spcPct val="112000"/>
              </a:lnSpc>
              <a:spcAft>
                <a:spcPts val="600"/>
              </a:spcAft>
            </a:pPr>
            <a:r>
              <a:rPr sz="1200" b="1">
                <a:solidFill>
                  <a:srgbClr val="1F63B8"/>
                </a:solidFill>
                <a:latin typeface="Calibri"/>
              </a:rPr>
              <a:t>DEMO</a:t>
            </a:r>
          </a:p>
        </p:txBody>
      </p:sp>
      <p:sp>
        <p:nvSpPr>
          <p:cNvPr id="4" name="TextBox 3"/>
          <p:cNvSpPr txBox="1"/>
          <p:nvPr/>
        </p:nvSpPr>
        <p:spPr>
          <a:xfrm>
            <a:off x="548640" y="713232"/>
            <a:ext cx="11064240" cy="822960"/>
          </a:xfrm>
          <a:prstGeom prst="rect">
            <a:avLst/>
          </a:prstGeom>
          <a:noFill/>
        </p:spPr>
        <p:txBody>
          <a:bodyPr wrap="square" anchor="t" lIns="0" rIns="0" tIns="0" bIns="0">
            <a:spAutoFit/>
          </a:bodyPr>
          <a:lstStyle/>
          <a:p>
            <a:pPr algn="l">
              <a:lnSpc>
                <a:spcPct val="100000"/>
              </a:lnSpc>
              <a:spcAft>
                <a:spcPts val="600"/>
              </a:spcAft>
            </a:pPr>
            <a:r>
              <a:rPr sz="3000" b="1">
                <a:solidFill>
                  <a:srgbClr val="18222F"/>
                </a:solidFill>
                <a:latin typeface="Calibri"/>
              </a:rPr>
              <a:t>Fault occurrence up, handover success down — what now?</a:t>
            </a:r>
          </a:p>
        </p:txBody>
      </p:sp>
      <p:sp>
        <p:nvSpPr>
          <p:cNvPr id="5" name="TextBox 4"/>
          <p:cNvSpPr txBox="1"/>
          <p:nvPr/>
        </p:nvSpPr>
        <p:spPr>
          <a:xfrm>
            <a:off x="548640" y="6400800"/>
            <a:ext cx="8229600" cy="274320"/>
          </a:xfrm>
          <a:prstGeom prst="rect">
            <a:avLst/>
          </a:prstGeom>
          <a:noFill/>
        </p:spPr>
        <p:txBody>
          <a:bodyPr wrap="square" anchor="t" lIns="0" rIns="0" tIns="0" bIns="0">
            <a:spAutoFit/>
          </a:bodyPr>
          <a:lstStyle/>
          <a:p>
            <a:pPr algn="l">
              <a:lnSpc>
                <a:spcPct val="112000"/>
              </a:lnSpc>
              <a:spcAft>
                <a:spcPts val="600"/>
              </a:spcAft>
            </a:pPr>
            <a:r>
              <a:rPr sz="1000" b="0">
                <a:solidFill>
                  <a:srgbClr val="5F6B7A"/>
                </a:solidFill>
                <a:latin typeface="Calibri"/>
              </a:rPr>
              <a:t>Telecom NetOps Assistant · 9 / 12</a:t>
            </a:r>
          </a:p>
        </p:txBody>
      </p:sp>
      <p:pic>
        <p:nvPicPr>
          <p:cNvPr id="6" name="Picture 5" descr="streamlit_demo.png"/>
          <p:cNvPicPr>
            <a:picLocks noChangeAspect="1"/>
          </p:cNvPicPr>
          <p:nvPr/>
        </p:nvPicPr>
        <p:blipFill>
          <a:blip r:embed="rId2"/>
          <a:stretch>
            <a:fillRect/>
          </a:stretch>
        </p:blipFill>
        <p:spPr>
          <a:xfrm>
            <a:off x="548640" y="1600200"/>
            <a:ext cx="7589520" cy="4269105"/>
          </a:xfrm>
          <a:prstGeom prst="rect">
            <a:avLst/>
          </a:prstGeom>
        </p:spPr>
      </p:pic>
      <p:sp>
        <p:nvSpPr>
          <p:cNvPr id="7" name="TextBox 6"/>
          <p:cNvSpPr txBox="1"/>
          <p:nvPr/>
        </p:nvSpPr>
        <p:spPr>
          <a:xfrm>
            <a:off x="8321040" y="1691640"/>
            <a:ext cx="3383280" cy="4572000"/>
          </a:xfrm>
          <a:prstGeom prst="rect">
            <a:avLst/>
          </a:prstGeom>
          <a:noFill/>
        </p:spPr>
        <p:txBody>
          <a:bodyPr wrap="square" anchor="t" lIns="0" rIns="0" tIns="0" bIns="0">
            <a:spAutoFit/>
          </a:bodyPr>
          <a:lstStyle/>
          <a:p>
            <a:pPr algn="l">
              <a:lnSpc>
                <a:spcPct val="112000"/>
              </a:lnSpc>
              <a:spcAft>
                <a:spcPts val="600"/>
              </a:spcAft>
            </a:pPr>
            <a:r>
              <a:rPr sz="1500" b="1">
                <a:solidFill>
                  <a:srgbClr val="18222F"/>
                </a:solidFill>
                <a:latin typeface="Calibri"/>
              </a:rPr>
              <a:t>Run locally</a:t>
            </a:r>
          </a:p>
          <a:p>
            <a:pPr algn="l">
              <a:lnSpc>
                <a:spcPct val="112000"/>
              </a:lnSpc>
              <a:spcAft>
                <a:spcPts val="600"/>
              </a:spcAft>
            </a:pPr>
            <a:r>
              <a:rPr sz="1200" b="0">
                <a:solidFill>
                  <a:srgbClr val="3C4757"/>
                </a:solidFill>
                <a:latin typeface="Calibri"/>
              </a:rPr>
              <a:t>uvicorn src.main:app --reload</a:t>
            </a:r>
          </a:p>
          <a:p>
            <a:pPr algn="l">
              <a:lnSpc>
                <a:spcPct val="112000"/>
              </a:lnSpc>
              <a:spcAft>
                <a:spcPts val="1400"/>
              </a:spcAft>
            </a:pPr>
            <a:r>
              <a:rPr sz="1200" b="0">
                <a:solidFill>
                  <a:srgbClr val="3C4757"/>
                </a:solidFill>
                <a:latin typeface="Calibri"/>
              </a:rPr>
              <a:t>streamlit run frontend.py</a:t>
            </a:r>
          </a:p>
          <a:p>
            <a:pPr algn="l">
              <a:lnSpc>
                <a:spcPct val="112000"/>
              </a:lnSpc>
              <a:spcAft>
                <a:spcPts val="600"/>
              </a:spcAft>
            </a:pPr>
            <a:r>
              <a:rPr sz="1500" b="1">
                <a:solidFill>
                  <a:srgbClr val="18222F"/>
                </a:solidFill>
                <a:latin typeface="Calibri"/>
              </a:rPr>
              <a:t>Point out</a:t>
            </a:r>
          </a:p>
          <a:p>
            <a:pPr algn="l">
              <a:lnSpc>
                <a:spcPct val="112000"/>
              </a:lnSpc>
              <a:spcAft>
                <a:spcPts val="600"/>
              </a:spcAft>
            </a:pPr>
            <a:r>
              <a:rPr sz="1200" b="0">
                <a:solidFill>
                  <a:srgbClr val="3C4757"/>
                </a:solidFill>
                <a:latin typeface="Calibri"/>
              </a:rPr>
              <a:t>Category Mobility / Handover; severity 'estimated' — values were only described</a:t>
            </a:r>
          </a:p>
          <a:p>
            <a:pPr algn="l">
              <a:lnSpc>
                <a:spcPct val="112000"/>
              </a:lnSpc>
              <a:spcAft>
                <a:spcPts val="600"/>
              </a:spcAft>
            </a:pPr>
            <a:r>
              <a:rPr sz="1200" b="0">
                <a:solidFill>
                  <a:srgbClr val="3C4757"/>
                </a:solidFill>
                <a:latin typeface="Calibri"/>
              </a:rPr>
              <a:t>Predicted risk 44.08 % next to 58.05 % observed — never mixed</a:t>
            </a:r>
          </a:p>
          <a:p>
            <a:pPr algn="l">
              <a:lnSpc>
                <a:spcPct val="112000"/>
              </a:lnSpc>
              <a:spcAft>
                <a:spcPts val="600"/>
              </a:spcAft>
            </a:pPr>
            <a:r>
              <a:rPr sz="1200" b="0">
                <a:solidFill>
                  <a:srgbClr val="3C4757"/>
                </a:solidFill>
                <a:latin typeface="Calibri"/>
              </a:rPr>
              <a:t>Leading hypothesis 0.65 — heuristic, not a probability</a:t>
            </a:r>
          </a:p>
          <a:p>
            <a:pPr algn="l">
              <a:lnSpc>
                <a:spcPct val="112000"/>
              </a:lnSpc>
              <a:spcAft>
                <a:spcPts val="600"/>
              </a:spcAft>
            </a:pPr>
            <a:r>
              <a:rPr sz="1200" b="0">
                <a:solidFill>
                  <a:srgbClr val="3C4757"/>
                </a:solidFill>
                <a:latin typeface="Calibri"/>
              </a:rPr>
              <a:t>Every action states its basis; review checks shown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822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972800" cy="320040"/>
          </a:xfrm>
          <a:prstGeom prst="rect">
            <a:avLst/>
          </a:prstGeom>
          <a:noFill/>
        </p:spPr>
        <p:txBody>
          <a:bodyPr wrap="square" anchor="t" lIns="0" rIns="0" tIns="0" bIns="0">
            <a:spAutoFit/>
          </a:bodyPr>
          <a:lstStyle/>
          <a:p>
            <a:pPr algn="l">
              <a:lnSpc>
                <a:spcPct val="112000"/>
              </a:lnSpc>
              <a:spcAft>
                <a:spcPts val="600"/>
              </a:spcAft>
            </a:pPr>
            <a:r>
              <a:rPr sz="1200" b="1">
                <a:solidFill>
                  <a:srgbClr val="A9B6C6"/>
                </a:solidFill>
                <a:latin typeface="Calibri"/>
              </a:rPr>
              <a:t>EVALUATION RESULTS</a:t>
            </a:r>
          </a:p>
        </p:txBody>
      </p:sp>
      <p:sp>
        <p:nvSpPr>
          <p:cNvPr id="4" name="TextBox 3"/>
          <p:cNvSpPr txBox="1"/>
          <p:nvPr/>
        </p:nvSpPr>
        <p:spPr>
          <a:xfrm>
            <a:off x="548640" y="713232"/>
            <a:ext cx="11064240" cy="822960"/>
          </a:xfrm>
          <a:prstGeom prst="rect">
            <a:avLst/>
          </a:prstGeom>
          <a:noFill/>
        </p:spPr>
        <p:txBody>
          <a:bodyPr wrap="square" anchor="t" lIns="0" rIns="0" tIns="0" bIns="0">
            <a:spAutoFit/>
          </a:bodyPr>
          <a:lstStyle/>
          <a:p>
            <a:pPr algn="l">
              <a:lnSpc>
                <a:spcPct val="100000"/>
              </a:lnSpc>
              <a:spcAft>
                <a:spcPts val="600"/>
              </a:spcAft>
            </a:pPr>
            <a:r>
              <a:rPr sz="3000" b="1">
                <a:solidFill>
                  <a:srgbClr val="F6F5F1"/>
                </a:solidFill>
                <a:latin typeface="Calibri"/>
              </a:rPr>
              <a:t>Measured, not assumed</a:t>
            </a:r>
          </a:p>
        </p:txBody>
      </p:sp>
      <p:sp>
        <p:nvSpPr>
          <p:cNvPr id="5" name="TextBox 4"/>
          <p:cNvSpPr txBox="1"/>
          <p:nvPr/>
        </p:nvSpPr>
        <p:spPr>
          <a:xfrm>
            <a:off x="548640" y="6400800"/>
            <a:ext cx="8229600" cy="274320"/>
          </a:xfrm>
          <a:prstGeom prst="rect">
            <a:avLst/>
          </a:prstGeom>
          <a:noFill/>
        </p:spPr>
        <p:txBody>
          <a:bodyPr wrap="square" anchor="t" lIns="0" rIns="0" tIns="0" bIns="0">
            <a:spAutoFit/>
          </a:bodyPr>
          <a:lstStyle/>
          <a:p>
            <a:pPr algn="l">
              <a:lnSpc>
                <a:spcPct val="112000"/>
              </a:lnSpc>
              <a:spcAft>
                <a:spcPts val="600"/>
              </a:spcAft>
            </a:pPr>
            <a:r>
              <a:rPr sz="1000" b="0">
                <a:solidFill>
                  <a:srgbClr val="A9B6C6"/>
                </a:solidFill>
                <a:latin typeface="Calibri"/>
              </a:rPr>
              <a:t>Telecom NetOps Assistant · 10 / 12</a:t>
            </a:r>
          </a:p>
        </p:txBody>
      </p:sp>
      <p:sp>
        <p:nvSpPr>
          <p:cNvPr id="6" name="TextBox 5"/>
          <p:cNvSpPr txBox="1"/>
          <p:nvPr/>
        </p:nvSpPr>
        <p:spPr>
          <a:xfrm>
            <a:off x="548640" y="1828800"/>
            <a:ext cx="2651760" cy="1005840"/>
          </a:xfrm>
          <a:prstGeom prst="rect">
            <a:avLst/>
          </a:prstGeom>
          <a:noFill/>
        </p:spPr>
        <p:txBody>
          <a:bodyPr wrap="square" anchor="t" lIns="0" rIns="0" tIns="0" bIns="0">
            <a:spAutoFit/>
          </a:bodyPr>
          <a:lstStyle/>
          <a:p>
            <a:pPr algn="l">
              <a:lnSpc>
                <a:spcPct val="112000"/>
              </a:lnSpc>
              <a:spcAft>
                <a:spcPts val="600"/>
              </a:spcAft>
            </a:pPr>
            <a:r>
              <a:rPr sz="4800" b="1">
                <a:solidFill>
                  <a:srgbClr val="F6F5F1"/>
                </a:solidFill>
                <a:latin typeface="Calibri"/>
              </a:rPr>
              <a:t>222</a:t>
            </a:r>
          </a:p>
        </p:txBody>
      </p:sp>
      <p:sp>
        <p:nvSpPr>
          <p:cNvPr id="7" name="TextBox 6"/>
          <p:cNvSpPr txBox="1"/>
          <p:nvPr/>
        </p:nvSpPr>
        <p:spPr>
          <a:xfrm>
            <a:off x="548640" y="2880360"/>
            <a:ext cx="2560320" cy="731520"/>
          </a:xfrm>
          <a:prstGeom prst="rect">
            <a:avLst/>
          </a:prstGeom>
          <a:noFill/>
        </p:spPr>
        <p:txBody>
          <a:bodyPr wrap="square" anchor="t" lIns="0" rIns="0" tIns="0" bIns="0">
            <a:spAutoFit/>
          </a:bodyPr>
          <a:lstStyle/>
          <a:p>
            <a:pPr algn="l">
              <a:lnSpc>
                <a:spcPct val="112000"/>
              </a:lnSpc>
              <a:spcAft>
                <a:spcPts val="600"/>
              </a:spcAft>
            </a:pPr>
            <a:r>
              <a:rPr sz="1400" b="0">
                <a:solidFill>
                  <a:srgbClr val="A9B6C6"/>
                </a:solidFill>
                <a:latin typeface="Calibri"/>
              </a:rPr>
              <a:t>automated tests, all passing</a:t>
            </a:r>
          </a:p>
        </p:txBody>
      </p:sp>
      <p:sp>
        <p:nvSpPr>
          <p:cNvPr id="8" name="TextBox 7"/>
          <p:cNvSpPr txBox="1"/>
          <p:nvPr/>
        </p:nvSpPr>
        <p:spPr>
          <a:xfrm>
            <a:off x="3383280" y="1828800"/>
            <a:ext cx="2651760" cy="1005840"/>
          </a:xfrm>
          <a:prstGeom prst="rect">
            <a:avLst/>
          </a:prstGeom>
          <a:noFill/>
        </p:spPr>
        <p:txBody>
          <a:bodyPr wrap="square" anchor="t" lIns="0" rIns="0" tIns="0" bIns="0">
            <a:spAutoFit/>
          </a:bodyPr>
          <a:lstStyle/>
          <a:p>
            <a:pPr algn="l">
              <a:lnSpc>
                <a:spcPct val="112000"/>
              </a:lnSpc>
              <a:spcAft>
                <a:spcPts val="600"/>
              </a:spcAft>
            </a:pPr>
            <a:r>
              <a:rPr sz="4800" b="1">
                <a:solidFill>
                  <a:srgbClr val="F6F5F1"/>
                </a:solidFill>
                <a:latin typeface="Calibri"/>
              </a:rPr>
              <a:t>1.00</a:t>
            </a:r>
          </a:p>
        </p:txBody>
      </p:sp>
      <p:sp>
        <p:nvSpPr>
          <p:cNvPr id="9" name="TextBox 8"/>
          <p:cNvSpPr txBox="1"/>
          <p:nvPr/>
        </p:nvSpPr>
        <p:spPr>
          <a:xfrm>
            <a:off x="3383280" y="2880360"/>
            <a:ext cx="2560320" cy="731520"/>
          </a:xfrm>
          <a:prstGeom prst="rect">
            <a:avLst/>
          </a:prstGeom>
          <a:noFill/>
        </p:spPr>
        <p:txBody>
          <a:bodyPr wrap="square" anchor="t" lIns="0" rIns="0" tIns="0" bIns="0">
            <a:spAutoFit/>
          </a:bodyPr>
          <a:lstStyle/>
          <a:p>
            <a:pPr algn="l">
              <a:lnSpc>
                <a:spcPct val="112000"/>
              </a:lnSpc>
              <a:spcAft>
                <a:spcPts val="600"/>
              </a:spcAft>
            </a:pPr>
            <a:r>
              <a:rPr sz="1400" b="0">
                <a:solidFill>
                  <a:srgbClr val="A9B6C6"/>
                </a:solidFill>
                <a:latin typeface="Calibri"/>
              </a:rPr>
              <a:t>retrieval precision, 8 evaluation cases</a:t>
            </a:r>
          </a:p>
        </p:txBody>
      </p:sp>
      <p:sp>
        <p:nvSpPr>
          <p:cNvPr id="10" name="TextBox 9"/>
          <p:cNvSpPr txBox="1"/>
          <p:nvPr/>
        </p:nvSpPr>
        <p:spPr>
          <a:xfrm>
            <a:off x="6217920" y="1828800"/>
            <a:ext cx="2651760" cy="1005840"/>
          </a:xfrm>
          <a:prstGeom prst="rect">
            <a:avLst/>
          </a:prstGeom>
          <a:noFill/>
        </p:spPr>
        <p:txBody>
          <a:bodyPr wrap="square" anchor="t" lIns="0" rIns="0" tIns="0" bIns="0">
            <a:spAutoFit/>
          </a:bodyPr>
          <a:lstStyle/>
          <a:p>
            <a:pPr algn="l">
              <a:lnSpc>
                <a:spcPct val="112000"/>
              </a:lnSpc>
              <a:spcAft>
                <a:spcPts val="600"/>
              </a:spcAft>
            </a:pPr>
            <a:r>
              <a:rPr sz="4800" b="1">
                <a:solidFill>
                  <a:srgbClr val="F6F5F1"/>
                </a:solidFill>
                <a:latin typeface="Calibri"/>
              </a:rPr>
              <a:t>0.93</a:t>
            </a:r>
          </a:p>
        </p:txBody>
      </p:sp>
      <p:sp>
        <p:nvSpPr>
          <p:cNvPr id="11" name="TextBox 10"/>
          <p:cNvSpPr txBox="1"/>
          <p:nvPr/>
        </p:nvSpPr>
        <p:spPr>
          <a:xfrm>
            <a:off x="6217920" y="2880360"/>
            <a:ext cx="2560320" cy="731520"/>
          </a:xfrm>
          <a:prstGeom prst="rect">
            <a:avLst/>
          </a:prstGeom>
          <a:noFill/>
        </p:spPr>
        <p:txBody>
          <a:bodyPr wrap="square" anchor="t" lIns="0" rIns="0" tIns="0" bIns="0">
            <a:spAutoFit/>
          </a:bodyPr>
          <a:lstStyle/>
          <a:p>
            <a:pPr algn="l">
              <a:lnSpc>
                <a:spcPct val="112000"/>
              </a:lnSpc>
              <a:spcAft>
                <a:spcPts val="600"/>
              </a:spcAft>
            </a:pPr>
            <a:r>
              <a:rPr sz="1400" b="0">
                <a:solidFill>
                  <a:srgbClr val="A9B6C6"/>
                </a:solidFill>
                <a:latin typeface="Calibri"/>
              </a:rPr>
              <a:t>DeepEval faithfulness (LLM judge)</a:t>
            </a:r>
          </a:p>
        </p:txBody>
      </p:sp>
      <p:sp>
        <p:nvSpPr>
          <p:cNvPr id="12" name="TextBox 11"/>
          <p:cNvSpPr txBox="1"/>
          <p:nvPr/>
        </p:nvSpPr>
        <p:spPr>
          <a:xfrm>
            <a:off x="9052560" y="1828800"/>
            <a:ext cx="2651760" cy="1005840"/>
          </a:xfrm>
          <a:prstGeom prst="rect">
            <a:avLst/>
          </a:prstGeom>
          <a:noFill/>
        </p:spPr>
        <p:txBody>
          <a:bodyPr wrap="square" anchor="t" lIns="0" rIns="0" tIns="0" bIns="0">
            <a:spAutoFit/>
          </a:bodyPr>
          <a:lstStyle/>
          <a:p>
            <a:pPr algn="l">
              <a:lnSpc>
                <a:spcPct val="112000"/>
              </a:lnSpc>
              <a:spcAft>
                <a:spcPts val="600"/>
              </a:spcAft>
            </a:pPr>
            <a:r>
              <a:rPr sz="4800" b="1">
                <a:solidFill>
                  <a:srgbClr val="F6F5F1"/>
                </a:solidFill>
                <a:latin typeface="Calibri"/>
              </a:rPr>
              <a:t>0.885</a:t>
            </a:r>
          </a:p>
        </p:txBody>
      </p:sp>
      <p:sp>
        <p:nvSpPr>
          <p:cNvPr id="13" name="TextBox 12"/>
          <p:cNvSpPr txBox="1"/>
          <p:nvPr/>
        </p:nvSpPr>
        <p:spPr>
          <a:xfrm>
            <a:off x="9052560" y="2880360"/>
            <a:ext cx="2560320" cy="731520"/>
          </a:xfrm>
          <a:prstGeom prst="rect">
            <a:avLst/>
          </a:prstGeom>
          <a:noFill/>
        </p:spPr>
        <p:txBody>
          <a:bodyPr wrap="square" anchor="t" lIns="0" rIns="0" tIns="0" bIns="0">
            <a:spAutoFit/>
          </a:bodyPr>
          <a:lstStyle/>
          <a:p>
            <a:pPr algn="l">
              <a:lnSpc>
                <a:spcPct val="112000"/>
              </a:lnSpc>
              <a:spcAft>
                <a:spcPts val="600"/>
              </a:spcAft>
            </a:pPr>
            <a:r>
              <a:rPr sz="1400" b="0">
                <a:solidFill>
                  <a:srgbClr val="A9B6C6"/>
                </a:solidFill>
                <a:latin typeface="Calibri"/>
              </a:rPr>
              <a:t>fault-risk R² on unseen data (MAE 3.7 pts)</a:t>
            </a:r>
          </a:p>
        </p:txBody>
      </p:sp>
      <p:graphicFrame>
        <p:nvGraphicFramePr>
          <p:cNvPr id="14" name="Table 13"/>
          <p:cNvGraphicFramePr>
            <a:graphicFrameLocks noGrp="1"/>
          </p:cNvGraphicFramePr>
          <p:nvPr/>
        </p:nvGraphicFramePr>
        <p:xfrm>
          <a:off x="548640" y="3931920"/>
          <a:ext cx="11064240" cy="1645920"/>
        </p:xfrm>
        <a:graphic>
          <a:graphicData uri="http://schemas.openxmlformats.org/drawingml/2006/table">
            <a:tbl>
              <a:tblPr firstRow="1" bandRow="1">
                <a:tableStyleId>{5C22544A-7EE6-4342-B048-85BDC9FD1C3A}</a:tableStyleId>
              </a:tblPr>
              <a:tblGrid>
                <a:gridCol w="7863840"/>
                <a:gridCol w="3200400"/>
              </a:tblGrid>
              <a:tr h="411480">
                <a:tc>
                  <a:txBody>
                    <a:bodyPr wrap="square"/>
                    <a:lstStyle/>
                    <a:p>
                      <a:r>
                        <a:rPr sz="1300" b="1">
                          <a:solidFill>
                            <a:srgbClr val="F6F5F1"/>
                          </a:solidFill>
                          <a:latin typeface="Calibri"/>
                        </a:rPr>
                        <a:t>Metric</a:t>
                      </a:r>
                    </a:p>
                  </a:txBody>
                  <a:tcPr marL="73152" marR="73152" marT="36576" marB="36576">
                    <a:solidFill>
                      <a:srgbClr val="2A3A50"/>
                    </a:solidFill>
                  </a:tcPr>
                </a:tc>
                <a:tc>
                  <a:txBody>
                    <a:bodyPr wrap="square"/>
                    <a:lstStyle/>
                    <a:p>
                      <a:r>
                        <a:rPr sz="1300" b="1">
                          <a:solidFill>
                            <a:srgbClr val="F6F5F1"/>
                          </a:solidFill>
                          <a:latin typeface="Calibri"/>
                        </a:rPr>
                        <a:t>Score</a:t>
                      </a:r>
                    </a:p>
                  </a:txBody>
                  <a:tcPr marL="73152" marR="73152" marT="36576" marB="36576">
                    <a:solidFill>
                      <a:srgbClr val="2A3A50"/>
                    </a:solidFill>
                  </a:tcPr>
                </a:tc>
              </a:tr>
              <a:tr h="411480">
                <a:tc>
                  <a:txBody>
                    <a:bodyPr wrap="square"/>
                    <a:lstStyle/>
                    <a:p>
                      <a:r>
                        <a:rPr sz="1300" b="1">
                          <a:solidFill>
                            <a:srgbClr val="18222F"/>
                          </a:solidFill>
                          <a:latin typeface="Calibri"/>
                        </a:rPr>
                        <a:t>Condition recall · category match · hypothesis in top 2 · grounded</a:t>
                      </a:r>
                    </a:p>
                  </a:txBody>
                  <a:tcPr marL="73152" marR="73152" marT="36576" marB="36576">
                    <a:solidFill>
                      <a:srgbClr val="FFFFFF"/>
                    </a:solidFill>
                  </a:tcPr>
                </a:tc>
                <a:tc>
                  <a:txBody>
                    <a:bodyPr wrap="square"/>
                    <a:lstStyle/>
                    <a:p>
                      <a:r>
                        <a:rPr sz="1300" b="0">
                          <a:solidFill>
                            <a:srgbClr val="18222F"/>
                          </a:solidFill>
                          <a:latin typeface="Calibri"/>
                        </a:rPr>
                        <a:t>1.00 · 1.00 · 1.00 · 0.75</a:t>
                      </a:r>
                    </a:p>
                  </a:txBody>
                  <a:tcPr marL="73152" marR="73152" marT="36576" marB="36576">
                    <a:solidFill>
                      <a:srgbClr val="FFFFFF"/>
                    </a:solidFill>
                  </a:tcPr>
                </a:tc>
              </a:tr>
              <a:tr h="411480">
                <a:tc>
                  <a:txBody>
                    <a:bodyPr wrap="square"/>
                    <a:lstStyle/>
                    <a:p>
                      <a:r>
                        <a:rPr sz="1300" b="1">
                          <a:solidFill>
                            <a:srgbClr val="18222F"/>
                          </a:solidFill>
                          <a:latin typeface="Calibri"/>
                        </a:rPr>
                        <a:t>DeepEval answer relevancy · contextual precision · contextual relevancy</a:t>
                      </a:r>
                    </a:p>
                  </a:txBody>
                  <a:tcPr marL="73152" marR="73152" marT="36576" marB="36576">
                    <a:solidFill>
                      <a:srgbClr val="F1F0EC"/>
                    </a:solidFill>
                  </a:tcPr>
                </a:tc>
                <a:tc>
                  <a:txBody>
                    <a:bodyPr wrap="square"/>
                    <a:lstStyle/>
                    <a:p>
                      <a:r>
                        <a:rPr sz="1300" b="0">
                          <a:solidFill>
                            <a:srgbClr val="18222F"/>
                          </a:solidFill>
                          <a:latin typeface="Calibri"/>
                        </a:rPr>
                        <a:t>0.89 · 1.00 · 0.28</a:t>
                      </a:r>
                    </a:p>
                  </a:txBody>
                  <a:tcPr marL="73152" marR="73152" marT="36576" marB="36576">
                    <a:solidFill>
                      <a:srgbClr val="F1F0EC"/>
                    </a:solidFill>
                  </a:tcPr>
                </a:tc>
              </a:tr>
              <a:tr h="411480">
                <a:tc>
                  <a:txBody>
                    <a:bodyPr wrap="square"/>
                    <a:lstStyle/>
                    <a:p>
                      <a:r>
                        <a:rPr sz="1300" b="1">
                          <a:solidFill>
                            <a:srgbClr val="18222F"/>
                          </a:solidFill>
                          <a:latin typeface="Calibri"/>
                        </a:rPr>
                        <a:t>Category classifier (agreement with the rules, not real accuracy)</a:t>
                      </a:r>
                    </a:p>
                  </a:txBody>
                  <a:tcPr marL="73152" marR="73152" marT="36576" marB="36576">
                    <a:solidFill>
                      <a:srgbClr val="FFFFFF"/>
                    </a:solidFill>
                  </a:tcPr>
                </a:tc>
                <a:tc>
                  <a:txBody>
                    <a:bodyPr wrap="square"/>
                    <a:lstStyle/>
                    <a:p>
                      <a:r>
                        <a:rPr sz="1300" b="0">
                          <a:solidFill>
                            <a:srgbClr val="18222F"/>
                          </a:solidFill>
                          <a:latin typeface="Calibri"/>
                        </a:rPr>
                        <a:t>97.4%</a:t>
                      </a:r>
                    </a:p>
                  </a:txBody>
                  <a:tcPr marL="73152" marR="73152" marT="36576" marB="36576">
                    <a:solidFill>
                      <a:srgbClr val="FFFFFF"/>
                    </a:solidFill>
                  </a:tcPr>
                </a:tc>
              </a:tr>
            </a:tbl>
          </a:graphicData>
        </a:graphic>
      </p:graphicFrame>
      <p:sp>
        <p:nvSpPr>
          <p:cNvPr id="15" name="TextBox 14"/>
          <p:cNvSpPr txBox="1"/>
          <p:nvPr/>
        </p:nvSpPr>
        <p:spPr>
          <a:xfrm>
            <a:off x="548640" y="5897880"/>
            <a:ext cx="11064240" cy="365760"/>
          </a:xfrm>
          <a:prstGeom prst="rect">
            <a:avLst/>
          </a:prstGeom>
          <a:noFill/>
        </p:spPr>
        <p:txBody>
          <a:bodyPr wrap="square" anchor="t" lIns="0" rIns="0" tIns="0" bIns="0">
            <a:spAutoFit/>
          </a:bodyPr>
          <a:lstStyle/>
          <a:p>
            <a:pPr algn="l">
              <a:lnSpc>
                <a:spcPct val="112000"/>
              </a:lnSpc>
              <a:spcAft>
                <a:spcPts val="600"/>
              </a:spcAft>
            </a:pPr>
            <a:r>
              <a:rPr sz="1200" b="0">
                <a:solidFill>
                  <a:srgbClr val="A9B6C6"/>
                </a:solidFill>
                <a:latin typeface="Calibri"/>
              </a:rPr>
              <a:t>Judge: nvidia openai/gpt-oss-20b. Development scores — one retrieval weight was tuned on these 8 cases.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5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972800" cy="320040"/>
          </a:xfrm>
          <a:prstGeom prst="rect">
            <a:avLst/>
          </a:prstGeom>
          <a:noFill/>
        </p:spPr>
        <p:txBody>
          <a:bodyPr wrap="square" anchor="t" lIns="0" rIns="0" tIns="0" bIns="0">
            <a:spAutoFit/>
          </a:bodyPr>
          <a:lstStyle/>
          <a:p>
            <a:pPr algn="l">
              <a:lnSpc>
                <a:spcPct val="112000"/>
              </a:lnSpc>
              <a:spcAft>
                <a:spcPts val="600"/>
              </a:spcAft>
            </a:pPr>
            <a:r>
              <a:rPr sz="1200" b="1">
                <a:solidFill>
                  <a:srgbClr val="1F63B8"/>
                </a:solidFill>
                <a:latin typeface="Calibri"/>
              </a:rPr>
              <a:t>CHALLENGES AND LEARNINGS</a:t>
            </a:r>
          </a:p>
        </p:txBody>
      </p:sp>
      <p:sp>
        <p:nvSpPr>
          <p:cNvPr id="4" name="TextBox 3"/>
          <p:cNvSpPr txBox="1"/>
          <p:nvPr/>
        </p:nvSpPr>
        <p:spPr>
          <a:xfrm>
            <a:off x="548640" y="713232"/>
            <a:ext cx="11064240" cy="822960"/>
          </a:xfrm>
          <a:prstGeom prst="rect">
            <a:avLst/>
          </a:prstGeom>
          <a:noFill/>
        </p:spPr>
        <p:txBody>
          <a:bodyPr wrap="square" anchor="t" lIns="0" rIns="0" tIns="0" bIns="0">
            <a:spAutoFit/>
          </a:bodyPr>
          <a:lstStyle/>
          <a:p>
            <a:pPr algn="l">
              <a:lnSpc>
                <a:spcPct val="100000"/>
              </a:lnSpc>
              <a:spcAft>
                <a:spcPts val="600"/>
              </a:spcAft>
            </a:pPr>
            <a:r>
              <a:rPr sz="3000" b="1">
                <a:solidFill>
                  <a:srgbClr val="18222F"/>
                </a:solidFill>
                <a:latin typeface="Calibri"/>
              </a:rPr>
              <a:t>Real problems found by testing — and what they taught</a:t>
            </a:r>
          </a:p>
        </p:txBody>
      </p:sp>
      <p:sp>
        <p:nvSpPr>
          <p:cNvPr id="5" name="TextBox 4"/>
          <p:cNvSpPr txBox="1"/>
          <p:nvPr/>
        </p:nvSpPr>
        <p:spPr>
          <a:xfrm>
            <a:off x="548640" y="6400800"/>
            <a:ext cx="8229600" cy="274320"/>
          </a:xfrm>
          <a:prstGeom prst="rect">
            <a:avLst/>
          </a:prstGeom>
          <a:noFill/>
        </p:spPr>
        <p:txBody>
          <a:bodyPr wrap="square" anchor="t" lIns="0" rIns="0" tIns="0" bIns="0">
            <a:spAutoFit/>
          </a:bodyPr>
          <a:lstStyle/>
          <a:p>
            <a:pPr algn="l">
              <a:lnSpc>
                <a:spcPct val="112000"/>
              </a:lnSpc>
              <a:spcAft>
                <a:spcPts val="600"/>
              </a:spcAft>
            </a:pPr>
            <a:r>
              <a:rPr sz="1000" b="0">
                <a:solidFill>
                  <a:srgbClr val="5F6B7A"/>
                </a:solidFill>
                <a:latin typeface="Calibri"/>
              </a:rPr>
              <a:t>Telecom NetOps Assistant · 11 / 12</a:t>
            </a:r>
          </a:p>
        </p:txBody>
      </p:sp>
      <p:graphicFrame>
        <p:nvGraphicFramePr>
          <p:cNvPr id="6" name="Table 5"/>
          <p:cNvGraphicFramePr>
            <a:graphicFrameLocks noGrp="1"/>
          </p:cNvGraphicFramePr>
          <p:nvPr/>
        </p:nvGraphicFramePr>
        <p:xfrm>
          <a:off x="548640" y="1783080"/>
          <a:ext cx="11064240" cy="3840480"/>
        </p:xfrm>
        <a:graphic>
          <a:graphicData uri="http://schemas.openxmlformats.org/drawingml/2006/table">
            <a:tbl>
              <a:tblPr firstRow="1" bandRow="1">
                <a:tableStyleId>{5C22544A-7EE6-4342-B048-85BDC9FD1C3A}</a:tableStyleId>
              </a:tblPr>
              <a:tblGrid>
                <a:gridCol w="4023360"/>
                <a:gridCol w="3657600"/>
                <a:gridCol w="3383280"/>
              </a:tblGrid>
              <a:tr h="548640">
                <a:tc>
                  <a:txBody>
                    <a:bodyPr wrap="square"/>
                    <a:lstStyle/>
                    <a:p>
                      <a:r>
                        <a:rPr sz="1300" b="1">
                          <a:solidFill>
                            <a:srgbClr val="F6F5F1"/>
                          </a:solidFill>
                          <a:latin typeface="Calibri"/>
                        </a:rPr>
                        <a:t>Challenge</a:t>
                      </a:r>
                    </a:p>
                  </a:txBody>
                  <a:tcPr marL="73152" marR="73152" marT="36576" marB="36576">
                    <a:solidFill>
                      <a:srgbClr val="18222F"/>
                    </a:solidFill>
                  </a:tcPr>
                </a:tc>
                <a:tc>
                  <a:txBody>
                    <a:bodyPr wrap="square"/>
                    <a:lstStyle/>
                    <a:p>
                      <a:r>
                        <a:rPr sz="1300" b="1">
                          <a:solidFill>
                            <a:srgbClr val="F6F5F1"/>
                          </a:solidFill>
                          <a:latin typeface="Calibri"/>
                        </a:rPr>
                        <a:t>What I did</a:t>
                      </a:r>
                    </a:p>
                  </a:txBody>
                  <a:tcPr marL="73152" marR="73152" marT="36576" marB="36576">
                    <a:solidFill>
                      <a:srgbClr val="18222F"/>
                    </a:solidFill>
                  </a:tcPr>
                </a:tc>
                <a:tc>
                  <a:txBody>
                    <a:bodyPr wrap="square"/>
                    <a:lstStyle/>
                    <a:p>
                      <a:r>
                        <a:rPr sz="1300" b="1">
                          <a:solidFill>
                            <a:srgbClr val="F6F5F1"/>
                          </a:solidFill>
                          <a:latin typeface="Calibri"/>
                        </a:rPr>
                        <a:t>Learning</a:t>
                      </a:r>
                    </a:p>
                  </a:txBody>
                  <a:tcPr marL="73152" marR="73152" marT="36576" marB="36576">
                    <a:solidFill>
                      <a:srgbClr val="18222F"/>
                    </a:solidFill>
                  </a:tcPr>
                </a:tc>
              </a:tr>
              <a:tr h="548640">
                <a:tc>
                  <a:txBody>
                    <a:bodyPr wrap="square"/>
                    <a:lstStyle/>
                    <a:p>
                      <a:r>
                        <a:rPr sz="1300" b="1">
                          <a:solidFill>
                            <a:srgbClr val="18222F"/>
                          </a:solidFill>
                          <a:latin typeface="Calibri"/>
                        </a:rPr>
                        <a:t>No labels in the data</a:t>
                      </a:r>
                    </a:p>
                  </a:txBody>
                  <a:tcPr marL="73152" marR="73152" marT="36576" marB="36576">
                    <a:solidFill>
                      <a:srgbClr val="FFFFFF"/>
                    </a:solidFill>
                  </a:tcPr>
                </a:tc>
                <a:tc>
                  <a:txBody>
                    <a:bodyPr wrap="square"/>
                    <a:lstStyle/>
                    <a:p>
                      <a:r>
                        <a:rPr sz="1300" b="0">
                          <a:solidFill>
                            <a:srgbClr val="18222F"/>
                          </a:solidFill>
                          <a:latin typeface="Calibri"/>
                        </a:rPr>
                        <a:t>derived labels with documented rules</a:t>
                      </a:r>
                    </a:p>
                  </a:txBody>
                  <a:tcPr marL="73152" marR="73152" marT="36576" marB="36576">
                    <a:solidFill>
                      <a:srgbClr val="FFFFFF"/>
                    </a:solidFill>
                  </a:tcPr>
                </a:tc>
                <a:tc>
                  <a:txBody>
                    <a:bodyPr wrap="square"/>
                    <a:lstStyle/>
                    <a:p>
                      <a:r>
                        <a:rPr sz="1300" b="0">
                          <a:solidFill>
                            <a:srgbClr val="18222F"/>
                          </a:solidFill>
                          <a:latin typeface="Calibri"/>
                        </a:rPr>
                        <a:t>say 'derived', never 'ground truth'</a:t>
                      </a:r>
                    </a:p>
                  </a:txBody>
                  <a:tcPr marL="73152" marR="73152" marT="36576" marB="36576">
                    <a:solidFill>
                      <a:srgbClr val="FFFFFF"/>
                    </a:solidFill>
                  </a:tcPr>
                </a:tc>
              </a:tr>
              <a:tr h="548640">
                <a:tc>
                  <a:txBody>
                    <a:bodyPr wrap="square"/>
                    <a:lstStyle/>
                    <a:p>
                      <a:r>
                        <a:rPr sz="1300" b="1">
                          <a:solidFill>
                            <a:srgbClr val="18222F"/>
                          </a:solidFill>
                          <a:latin typeface="Calibri"/>
                        </a:rPr>
                        <a:t>R² 0.9998 was leakage (target is a formula)</a:t>
                      </a:r>
                    </a:p>
                  </a:txBody>
                  <a:tcPr marL="73152" marR="73152" marT="36576" marB="36576">
                    <a:solidFill>
                      <a:srgbClr val="F1F0EC"/>
                    </a:solidFill>
                  </a:tcPr>
                </a:tc>
                <a:tc>
                  <a:txBody>
                    <a:bodyPr wrap="square"/>
                    <a:lstStyle/>
                    <a:p>
                      <a:r>
                        <a:rPr sz="1300" b="0">
                          <a:solidFill>
                            <a:srgbClr val="18222F"/>
                          </a:solidFill>
                          <a:latin typeface="Calibri"/>
                        </a:rPr>
                        <a:t>excluded formula columns → honest 0.885</a:t>
                      </a:r>
                    </a:p>
                  </a:txBody>
                  <a:tcPr marL="73152" marR="73152" marT="36576" marB="36576">
                    <a:solidFill>
                      <a:srgbClr val="F1F0EC"/>
                    </a:solidFill>
                  </a:tcPr>
                </a:tc>
                <a:tc>
                  <a:txBody>
                    <a:bodyPr wrap="square"/>
                    <a:lstStyle/>
                    <a:p>
                      <a:r>
                        <a:rPr sz="1300" b="0">
                          <a:solidFill>
                            <a:srgbClr val="18222F"/>
                          </a:solidFill>
                          <a:latin typeface="Calibri"/>
                        </a:rPr>
                        <a:t>a perfect score is a warning sign</a:t>
                      </a:r>
                    </a:p>
                  </a:txBody>
                  <a:tcPr marL="73152" marR="73152" marT="36576" marB="36576">
                    <a:solidFill>
                      <a:srgbClr val="F1F0EC"/>
                    </a:solidFill>
                  </a:tcPr>
                </a:tc>
              </a:tr>
              <a:tr h="548640">
                <a:tc>
                  <a:txBody>
                    <a:bodyPr wrap="square"/>
                    <a:lstStyle/>
                    <a:p>
                      <a:r>
                        <a:rPr sz="1300" b="1">
                          <a:solidFill>
                            <a:srgbClr val="18222F"/>
                          </a:solidFill>
                          <a:latin typeface="Calibri"/>
                        </a:rPr>
                        <a:t>LLM computed new numbers</a:t>
                      </a:r>
                    </a:p>
                  </a:txBody>
                  <a:tcPr marL="73152" marR="73152" marT="36576" marB="36576">
                    <a:solidFill>
                      <a:srgbClr val="FFFFFF"/>
                    </a:solidFill>
                  </a:tcPr>
                </a:tc>
                <a:tc>
                  <a:txBody>
                    <a:bodyPr wrap="square"/>
                    <a:lstStyle/>
                    <a:p>
                      <a:r>
                        <a:rPr sz="1300" b="0">
                          <a:solidFill>
                            <a:srgbClr val="18222F"/>
                          </a:solidFill>
                          <a:latin typeface="Calibri"/>
                        </a:rPr>
                        <a:t>grounding gate, retry, template</a:t>
                      </a:r>
                    </a:p>
                  </a:txBody>
                  <a:tcPr marL="73152" marR="73152" marT="36576" marB="36576">
                    <a:solidFill>
                      <a:srgbClr val="FFFFFF"/>
                    </a:solidFill>
                  </a:tcPr>
                </a:tc>
                <a:tc>
                  <a:txBody>
                    <a:bodyPr wrap="square"/>
                    <a:lstStyle/>
                    <a:p>
                      <a:r>
                        <a:rPr sz="1300" b="0">
                          <a:solidFill>
                            <a:srgbClr val="18222F"/>
                          </a:solidFill>
                          <a:latin typeface="Calibri"/>
                        </a:rPr>
                        <a:t>never trust fluent text — check it</a:t>
                      </a:r>
                    </a:p>
                  </a:txBody>
                  <a:tcPr marL="73152" marR="73152" marT="36576" marB="36576">
                    <a:solidFill>
                      <a:srgbClr val="FFFFFF"/>
                    </a:solidFill>
                  </a:tcPr>
                </a:tc>
              </a:tr>
              <a:tr h="548640">
                <a:tc>
                  <a:txBody>
                    <a:bodyPr wrap="square"/>
                    <a:lstStyle/>
                    <a:p>
                      <a:r>
                        <a:rPr sz="1300" b="1">
                          <a:solidFill>
                            <a:srgbClr val="18222F"/>
                          </a:solidFill>
                          <a:latin typeface="Calibri"/>
                        </a:rPr>
                        <a:t>'normal user load' retrieved high-load records</a:t>
                      </a:r>
                    </a:p>
                  </a:txBody>
                  <a:tcPr marL="73152" marR="73152" marT="36576" marB="36576">
                    <a:solidFill>
                      <a:srgbClr val="F1F0EC"/>
                    </a:solidFill>
                  </a:tcPr>
                </a:tc>
                <a:tc>
                  <a:txBody>
                    <a:bodyPr wrap="square"/>
                    <a:lstStyle/>
                    <a:p>
                      <a:r>
                        <a:rPr sz="1300" b="0">
                          <a:solidFill>
                            <a:srgbClr val="18222F"/>
                          </a:solidFill>
                          <a:latin typeface="Calibri"/>
                        </a:rPr>
                        <a:t>strip good/normal phrases + penalty</a:t>
                      </a:r>
                    </a:p>
                  </a:txBody>
                  <a:tcPr marL="73152" marR="73152" marT="36576" marB="36576">
                    <a:solidFill>
                      <a:srgbClr val="F1F0EC"/>
                    </a:solidFill>
                  </a:tcPr>
                </a:tc>
                <a:tc>
                  <a:txBody>
                    <a:bodyPr wrap="square"/>
                    <a:lstStyle/>
                    <a:p>
                      <a:r>
                        <a:rPr sz="1300" b="0">
                          <a:solidFill>
                            <a:srgbClr val="18222F"/>
                          </a:solidFill>
                          <a:latin typeface="Calibri"/>
                        </a:rPr>
                        <a:t>embeddings miss negation</a:t>
                      </a:r>
                    </a:p>
                  </a:txBody>
                  <a:tcPr marL="73152" marR="73152" marT="36576" marB="36576">
                    <a:solidFill>
                      <a:srgbClr val="F1F0EC"/>
                    </a:solidFill>
                  </a:tcPr>
                </a:tc>
              </a:tr>
              <a:tr h="548640">
                <a:tc>
                  <a:txBody>
                    <a:bodyPr wrap="square"/>
                    <a:lstStyle/>
                    <a:p>
                      <a:r>
                        <a:rPr sz="1300" b="1">
                          <a:solidFill>
                            <a:srgbClr val="18222F"/>
                          </a:solidFill>
                          <a:latin typeface="Calibri"/>
                        </a:rPr>
                        <a:t>pandas altered ~15 % of floats in the last digit</a:t>
                      </a:r>
                    </a:p>
                  </a:txBody>
                  <a:tcPr marL="73152" marR="73152" marT="36576" marB="36576">
                    <a:solidFill>
                      <a:srgbClr val="FFFFFF"/>
                    </a:solidFill>
                  </a:tcPr>
                </a:tc>
                <a:tc>
                  <a:txBody>
                    <a:bodyPr wrap="square"/>
                    <a:lstStyle/>
                    <a:p>
                      <a:r>
                        <a:rPr sz="1300" b="0">
                          <a:solidFill>
                            <a:srgbClr val="18222F"/>
                          </a:solidFill>
                          <a:latin typeface="Calibri"/>
                        </a:rPr>
                        <a:t>exact float() parsing + equality test</a:t>
                      </a:r>
                    </a:p>
                  </a:txBody>
                  <a:tcPr marL="73152" marR="73152" marT="36576" marB="36576">
                    <a:solidFill>
                      <a:srgbClr val="FFFFFF"/>
                    </a:solidFill>
                  </a:tcPr>
                </a:tc>
                <a:tc>
                  <a:txBody>
                    <a:bodyPr wrap="square"/>
                    <a:lstStyle/>
                    <a:p>
                      <a:r>
                        <a:rPr sz="1300" b="0">
                          <a:solidFill>
                            <a:srgbClr val="18222F"/>
                          </a:solidFill>
                          <a:latin typeface="Calibri"/>
                        </a:rPr>
                        <a:t>test the data, not only the code</a:t>
                      </a:r>
                    </a:p>
                  </a:txBody>
                  <a:tcPr marL="73152" marR="73152" marT="36576" marB="36576">
                    <a:solidFill>
                      <a:srgbClr val="FFFFFF"/>
                    </a:solidFill>
                  </a:tcPr>
                </a:tc>
              </a:tr>
              <a:tr h="548640">
                <a:tc>
                  <a:txBody>
                    <a:bodyPr wrap="square"/>
                    <a:lstStyle/>
                    <a:p>
                      <a:r>
                        <a:rPr sz="1300" b="1">
                          <a:solidFill>
                            <a:srgbClr val="18222F"/>
                          </a:solidFill>
                          <a:latin typeface="Calibri"/>
                        </a:rPr>
                        <a:t>Small LLM as judge raises false alarms</a:t>
                      </a:r>
                    </a:p>
                  </a:txBody>
                  <a:tcPr marL="73152" marR="73152" marT="36576" marB="36576">
                    <a:solidFill>
                      <a:srgbClr val="F1F0EC"/>
                    </a:solidFill>
                  </a:tcPr>
                </a:tc>
                <a:tc>
                  <a:txBody>
                    <a:bodyPr wrap="square"/>
                    <a:lstStyle/>
                    <a:p>
                      <a:r>
                        <a:rPr sz="1300" b="0">
                          <a:solidFill>
                            <a:srgbClr val="18222F"/>
                          </a:solidFill>
                          <a:latin typeface="Calibri"/>
                        </a:rPr>
                        <a:t>code checks + judge must agree</a:t>
                      </a:r>
                    </a:p>
                  </a:txBody>
                  <a:tcPr marL="73152" marR="73152" marT="36576" marB="36576">
                    <a:solidFill>
                      <a:srgbClr val="F1F0EC"/>
                    </a:solidFill>
                  </a:tcPr>
                </a:tc>
                <a:tc>
                  <a:txBody>
                    <a:bodyPr wrap="square"/>
                    <a:lstStyle/>
                    <a:p>
                      <a:r>
                        <a:rPr sz="1300" b="0">
                          <a:solidFill>
                            <a:srgbClr val="18222F"/>
                          </a:solidFill>
                          <a:latin typeface="Calibri"/>
                        </a:rPr>
                        <a:t>layer cheap checks with judgement</a:t>
                      </a:r>
                    </a:p>
                  </a:txBody>
                  <a:tcPr marL="73152" marR="73152" marT="36576" marB="36576">
                    <a:solidFill>
                      <a:srgbClr val="F1F0EC"/>
                    </a:solidFill>
                  </a:tcPr>
                </a:tc>
              </a:tr>
            </a:tbl>
          </a:graphicData>
        </a:graphic>
      </p:graphicFrame>
      <p:sp>
        <p:nvSpPr>
          <p:cNvPr id="7" name="TextBox 6"/>
          <p:cNvSpPr txBox="1"/>
          <p:nvPr/>
        </p:nvSpPr>
        <p:spPr>
          <a:xfrm>
            <a:off x="548640" y="5760720"/>
            <a:ext cx="11064240" cy="457200"/>
          </a:xfrm>
          <a:prstGeom prst="rect">
            <a:avLst/>
          </a:prstGeom>
          <a:noFill/>
        </p:spPr>
        <p:txBody>
          <a:bodyPr wrap="square" anchor="t" lIns="0" rIns="0" tIns="0" bIns="0">
            <a:spAutoFit/>
          </a:bodyPr>
          <a:lstStyle/>
          <a:p>
            <a:pPr algn="l">
              <a:lnSpc>
                <a:spcPct val="112000"/>
              </a:lnSpc>
              <a:spcAft>
                <a:spcPts val="600"/>
              </a:spcAft>
            </a:pPr>
            <a:r>
              <a:rPr sz="1200" b="0">
                <a:solidFill>
                  <a:srgbClr val="5F6B7A"/>
                </a:solidFill>
                <a:latin typeface="Calibri"/>
              </a:rPr>
              <a:t>Limitations: synthetic data, no timestamps, cell IDs or transport counters, so causes remain hypotheses. Next: real operator data, confidence calibrated from feedback.</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822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6858000"/>
          </a:xfrm>
          <a:prstGeom prst="rect">
            <a:avLst/>
          </a:prstGeom>
          <a:solidFill>
            <a:srgbClr val="1F6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463040"/>
            <a:ext cx="10515600" cy="1097280"/>
          </a:xfrm>
          <a:prstGeom prst="rect">
            <a:avLst/>
          </a:prstGeom>
          <a:noFill/>
        </p:spPr>
        <p:txBody>
          <a:bodyPr wrap="square" anchor="t" lIns="0" rIns="0" tIns="0" bIns="0">
            <a:spAutoFit/>
          </a:bodyPr>
          <a:lstStyle/>
          <a:p>
            <a:pPr algn="l">
              <a:lnSpc>
                <a:spcPct val="112000"/>
              </a:lnSpc>
              <a:spcAft>
                <a:spcPts val="600"/>
              </a:spcAft>
            </a:pPr>
            <a:r>
              <a:rPr sz="4800" b="1">
                <a:solidFill>
                  <a:srgbClr val="F6F5F1"/>
                </a:solidFill>
                <a:latin typeface="Calibri"/>
              </a:rPr>
              <a:t>Thank you — questions?</a:t>
            </a:r>
          </a:p>
        </p:txBody>
      </p:sp>
      <p:sp>
        <p:nvSpPr>
          <p:cNvPr id="5" name="TextBox 4"/>
          <p:cNvSpPr txBox="1"/>
          <p:nvPr/>
        </p:nvSpPr>
        <p:spPr>
          <a:xfrm>
            <a:off x="822960" y="3291840"/>
            <a:ext cx="3383280" cy="457200"/>
          </a:xfrm>
          <a:prstGeom prst="rect">
            <a:avLst/>
          </a:prstGeom>
          <a:noFill/>
        </p:spPr>
        <p:txBody>
          <a:bodyPr wrap="square" anchor="t" lIns="0" rIns="0" tIns="0" bIns="0">
            <a:spAutoFit/>
          </a:bodyPr>
          <a:lstStyle/>
          <a:p>
            <a:pPr algn="l">
              <a:lnSpc>
                <a:spcPct val="112000"/>
              </a:lnSpc>
              <a:spcAft>
                <a:spcPts val="600"/>
              </a:spcAft>
            </a:pPr>
            <a:r>
              <a:rPr sz="2200" b="1">
                <a:solidFill>
                  <a:srgbClr val="F6F5F1"/>
                </a:solidFill>
                <a:latin typeface="Calibri"/>
              </a:rPr>
              <a:t>Evidence first</a:t>
            </a:r>
          </a:p>
        </p:txBody>
      </p:sp>
      <p:sp>
        <p:nvSpPr>
          <p:cNvPr id="6" name="TextBox 5"/>
          <p:cNvSpPr txBox="1"/>
          <p:nvPr/>
        </p:nvSpPr>
        <p:spPr>
          <a:xfrm>
            <a:off x="822960" y="3840480"/>
            <a:ext cx="3383280" cy="914400"/>
          </a:xfrm>
          <a:prstGeom prst="rect">
            <a:avLst/>
          </a:prstGeom>
          <a:noFill/>
        </p:spPr>
        <p:txBody>
          <a:bodyPr wrap="square" anchor="t" lIns="0" rIns="0" tIns="0" bIns="0">
            <a:spAutoFit/>
          </a:bodyPr>
          <a:lstStyle/>
          <a:p>
            <a:pPr algn="l">
              <a:lnSpc>
                <a:spcPct val="112000"/>
              </a:lnSpc>
              <a:spcAft>
                <a:spcPts val="600"/>
              </a:spcAft>
            </a:pPr>
            <a:r>
              <a:rPr sz="1500" b="0">
                <a:solidFill>
                  <a:srgbClr val="A9B6C6"/>
                </a:solidFill>
                <a:latin typeface="Calibri"/>
              </a:rPr>
              <a:t>every statement carries its source</a:t>
            </a:r>
          </a:p>
        </p:txBody>
      </p:sp>
      <p:sp>
        <p:nvSpPr>
          <p:cNvPr id="7" name="TextBox 6"/>
          <p:cNvSpPr txBox="1"/>
          <p:nvPr/>
        </p:nvSpPr>
        <p:spPr>
          <a:xfrm>
            <a:off x="4480560" y="3291840"/>
            <a:ext cx="3383280" cy="457200"/>
          </a:xfrm>
          <a:prstGeom prst="rect">
            <a:avLst/>
          </a:prstGeom>
          <a:noFill/>
        </p:spPr>
        <p:txBody>
          <a:bodyPr wrap="square" anchor="t" lIns="0" rIns="0" tIns="0" bIns="0">
            <a:spAutoFit/>
          </a:bodyPr>
          <a:lstStyle/>
          <a:p>
            <a:pPr algn="l">
              <a:lnSpc>
                <a:spcPct val="112000"/>
              </a:lnSpc>
              <a:spcAft>
                <a:spcPts val="600"/>
              </a:spcAft>
            </a:pPr>
            <a:r>
              <a:rPr sz="2200" b="1">
                <a:solidFill>
                  <a:srgbClr val="F6F5F1"/>
                </a:solidFill>
                <a:latin typeface="Calibri"/>
              </a:rPr>
              <a:t>Honest ML</a:t>
            </a:r>
          </a:p>
        </p:txBody>
      </p:sp>
      <p:sp>
        <p:nvSpPr>
          <p:cNvPr id="8" name="TextBox 7"/>
          <p:cNvSpPr txBox="1"/>
          <p:nvPr/>
        </p:nvSpPr>
        <p:spPr>
          <a:xfrm>
            <a:off x="4480560" y="3840480"/>
            <a:ext cx="3383280" cy="914400"/>
          </a:xfrm>
          <a:prstGeom prst="rect">
            <a:avLst/>
          </a:prstGeom>
          <a:noFill/>
        </p:spPr>
        <p:txBody>
          <a:bodyPr wrap="square" anchor="t" lIns="0" rIns="0" tIns="0" bIns="0">
            <a:spAutoFit/>
          </a:bodyPr>
          <a:lstStyle/>
          <a:p>
            <a:pPr algn="l">
              <a:lnSpc>
                <a:spcPct val="112000"/>
              </a:lnSpc>
              <a:spcAft>
                <a:spcPts val="600"/>
              </a:spcAft>
            </a:pPr>
            <a:r>
              <a:rPr sz="1500" b="0">
                <a:solidFill>
                  <a:srgbClr val="A9B6C6"/>
                </a:solidFill>
                <a:latin typeface="Calibri"/>
              </a:rPr>
              <a:t>leakage removed; derived labels named as derived</a:t>
            </a:r>
          </a:p>
        </p:txBody>
      </p:sp>
      <p:sp>
        <p:nvSpPr>
          <p:cNvPr id="9" name="TextBox 8"/>
          <p:cNvSpPr txBox="1"/>
          <p:nvPr/>
        </p:nvSpPr>
        <p:spPr>
          <a:xfrm>
            <a:off x="8138160" y="3291840"/>
            <a:ext cx="3383280" cy="457200"/>
          </a:xfrm>
          <a:prstGeom prst="rect">
            <a:avLst/>
          </a:prstGeom>
          <a:noFill/>
        </p:spPr>
        <p:txBody>
          <a:bodyPr wrap="square" anchor="t" lIns="0" rIns="0" tIns="0" bIns="0">
            <a:spAutoFit/>
          </a:bodyPr>
          <a:lstStyle/>
          <a:p>
            <a:pPr algn="l">
              <a:lnSpc>
                <a:spcPct val="112000"/>
              </a:lnSpc>
              <a:spcAft>
                <a:spcPts val="600"/>
              </a:spcAft>
            </a:pPr>
            <a:r>
              <a:rPr sz="2200" b="1">
                <a:solidFill>
                  <a:srgbClr val="F6F5F1"/>
                </a:solidFill>
                <a:latin typeface="Calibri"/>
              </a:rPr>
              <a:t>Safe LLM</a:t>
            </a:r>
          </a:p>
        </p:txBody>
      </p:sp>
      <p:sp>
        <p:nvSpPr>
          <p:cNvPr id="10" name="TextBox 9"/>
          <p:cNvSpPr txBox="1"/>
          <p:nvPr/>
        </p:nvSpPr>
        <p:spPr>
          <a:xfrm>
            <a:off x="8138160" y="3840480"/>
            <a:ext cx="3383280" cy="914400"/>
          </a:xfrm>
          <a:prstGeom prst="rect">
            <a:avLst/>
          </a:prstGeom>
          <a:noFill/>
        </p:spPr>
        <p:txBody>
          <a:bodyPr wrap="square" anchor="t" lIns="0" rIns="0" tIns="0" bIns="0">
            <a:spAutoFit/>
          </a:bodyPr>
          <a:lstStyle/>
          <a:p>
            <a:pPr algn="l">
              <a:lnSpc>
                <a:spcPct val="112000"/>
              </a:lnSpc>
              <a:spcAft>
                <a:spcPts val="600"/>
              </a:spcAft>
            </a:pPr>
            <a:r>
              <a:rPr sz="1500" b="0">
                <a:solidFill>
                  <a:srgbClr val="A9B6C6"/>
                </a:solidFill>
                <a:latin typeface="Calibri"/>
              </a:rPr>
              <a:t>the model explains, code checks, a judge reviews</a:t>
            </a:r>
          </a:p>
        </p:txBody>
      </p:sp>
      <p:sp>
        <p:nvSpPr>
          <p:cNvPr id="11" name="TextBox 10"/>
          <p:cNvSpPr txBox="1"/>
          <p:nvPr/>
        </p:nvSpPr>
        <p:spPr>
          <a:xfrm>
            <a:off x="822960" y="5760720"/>
            <a:ext cx="10972800" cy="365760"/>
          </a:xfrm>
          <a:prstGeom prst="rect">
            <a:avLst/>
          </a:prstGeom>
          <a:noFill/>
        </p:spPr>
        <p:txBody>
          <a:bodyPr wrap="square" anchor="t" lIns="0" rIns="0" tIns="0" bIns="0">
            <a:spAutoFit/>
          </a:bodyPr>
          <a:lstStyle/>
          <a:p>
            <a:pPr algn="l">
              <a:lnSpc>
                <a:spcPct val="112000"/>
              </a:lnSpc>
              <a:spcAft>
                <a:spcPts val="600"/>
              </a:spcAft>
            </a:pPr>
            <a:r>
              <a:rPr sz="1300" b="0">
                <a:solidFill>
                  <a:srgbClr val="A9B6C6"/>
                </a:solidFill>
                <a:latin typeface="Calibri"/>
              </a:rPr>
              <a:t>Repository Jerom_Telecom · design/Design_Document.pdf · docs/API_Documentation.pdf · API docs at /docs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